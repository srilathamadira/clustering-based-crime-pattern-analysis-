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1" r:id="rId4"/>
  </p:sldMasterIdLst>
  <p:notesMasterIdLst>
    <p:notesMasterId r:id="rId19"/>
  </p:notesMasterIdLst>
  <p:handoutMasterIdLst>
    <p:handoutMasterId r:id="rId20"/>
  </p:handoutMasterIdLst>
  <p:sldIdLst>
    <p:sldId id="312" r:id="rId5"/>
    <p:sldId id="304" r:id="rId6"/>
    <p:sldId id="282" r:id="rId7"/>
    <p:sldId id="323" r:id="rId8"/>
    <p:sldId id="315" r:id="rId9"/>
    <p:sldId id="324" r:id="rId10"/>
    <p:sldId id="317" r:id="rId11"/>
    <p:sldId id="318" r:id="rId12"/>
    <p:sldId id="321" r:id="rId13"/>
    <p:sldId id="314" r:id="rId14"/>
    <p:sldId id="325" r:id="rId15"/>
    <p:sldId id="319" r:id="rId16"/>
    <p:sldId id="322" r:id="rId17"/>
    <p:sldId id="297" r:id="rId18"/>
  </p:sldIdLst>
  <p:sldSz cx="12192000" cy="6858000"/>
  <p:notesSz cx="13716000" cy="2438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EF"/>
    <a:srgbClr val="FDFBF6"/>
    <a:srgbClr val="202C8F"/>
    <a:srgbClr val="AAC4E9"/>
    <a:srgbClr val="F5CDCE"/>
    <a:srgbClr val="DF8C8C"/>
    <a:srgbClr val="D4D593"/>
    <a:srgbClr val="E6F0FE"/>
    <a:srgbClr val="CDBE8A"/>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9B81CE-98AB-47D5-9973-61072586194C}" v="13" dt="2026-01-28T03:46:56.764"/>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745" autoAdjust="0"/>
    <p:restoredTop sz="95390" autoAdjust="0"/>
  </p:normalViewPr>
  <p:slideViewPr>
    <p:cSldViewPr snapToGrid="0" snapToObjects="1">
      <p:cViewPr varScale="1">
        <p:scale>
          <a:sx n="59" d="100"/>
          <a:sy n="59" d="100"/>
        </p:scale>
        <p:origin x="820" y="1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5088148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210AB-D90E-5B1B-ADB0-415E1D90E0B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FB4B630-4318-3449-04D7-07463916A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6E66F7-4394-FFE3-6EEA-A93A9BCDBD75}"/>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5" name="Footer Placeholder 4">
            <a:extLst>
              <a:ext uri="{FF2B5EF4-FFF2-40B4-BE49-F238E27FC236}">
                <a16:creationId xmlns:a16="http://schemas.microsoft.com/office/drawing/2014/main" id="{949C5FFA-83B8-66F2-4006-D843372B40E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010514B-2ABB-5553-228A-63BAC12A7095}"/>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447699774"/>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5F6F2-E7A1-606B-03F8-1E8739D6850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D2725B1-C586-6791-6D34-9F10C3542F8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F5A515E-FB00-A3A2-914B-DB13E1A96B37}"/>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5" name="Footer Placeholder 4">
            <a:extLst>
              <a:ext uri="{FF2B5EF4-FFF2-40B4-BE49-F238E27FC236}">
                <a16:creationId xmlns:a16="http://schemas.microsoft.com/office/drawing/2014/main" id="{60FC9DC2-DEFC-A286-1DFA-195835C88E2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83338F4-1D53-949A-4749-DA6C4D22DAC4}"/>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409205929"/>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2F99E-F3DB-FAF3-8F69-E3720E403A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4A53A495-DE01-7764-680E-ECC3D48F7A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C70929-0056-4C8E-0BBC-710E3AA7E5CD}"/>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5" name="Footer Placeholder 4">
            <a:extLst>
              <a:ext uri="{FF2B5EF4-FFF2-40B4-BE49-F238E27FC236}">
                <a16:creationId xmlns:a16="http://schemas.microsoft.com/office/drawing/2014/main" id="{7CE4A305-03B6-7DFC-BF68-8727C98D499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91D520E-19C3-C399-4BE0-E53EE8E44538}"/>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01032725"/>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A9379-CBEF-098B-AD7C-88354C98005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4B95C03-3DE9-9DA2-ED34-4F18B0A043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3A56C64-E83F-C153-F9FC-6DD35485C76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B9E7AC5-F1B9-3835-051C-B0DE08CB7D99}"/>
              </a:ext>
            </a:extLst>
          </p:cNvPr>
          <p:cNvSpPr>
            <a:spLocks noGrp="1"/>
          </p:cNvSpPr>
          <p:nvPr>
            <p:ph type="dt" sz="half" idx="10"/>
          </p:nvPr>
        </p:nvSpPr>
        <p:spPr/>
        <p:txBody>
          <a:bodyPr/>
          <a:lstStyle/>
          <a:p>
            <a:fld id="{EB712588-04B1-427B-82EE-E8DB90309F08}" type="datetimeFigureOut">
              <a:rPr lang="en-US" smtClean="0"/>
              <a:t>1/31/2026</a:t>
            </a:fld>
            <a:endParaRPr lang="en-US" dirty="0"/>
          </a:p>
        </p:txBody>
      </p:sp>
      <p:sp>
        <p:nvSpPr>
          <p:cNvPr id="6" name="Footer Placeholder 5">
            <a:extLst>
              <a:ext uri="{FF2B5EF4-FFF2-40B4-BE49-F238E27FC236}">
                <a16:creationId xmlns:a16="http://schemas.microsoft.com/office/drawing/2014/main" id="{8E650667-78C0-7BC7-F52D-4DCF26FF1743}"/>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8C05EBE-6529-5EED-1669-3A4D240F6829}"/>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80828961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34879-F595-E66A-8EE2-F060E441D6E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F8F61C0-AE25-7151-8F02-FC9A4FE6A64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E4C23B-86D5-09A7-4B2B-FB785448D3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217CA95-DFCA-917C-763C-E0535DC5B8B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550897-BF09-EDF9-5E71-F384B513E11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90164ED-5F4E-BFED-FE87-5C87D800F543}"/>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8" name="Footer Placeholder 7">
            <a:extLst>
              <a:ext uri="{FF2B5EF4-FFF2-40B4-BE49-F238E27FC236}">
                <a16:creationId xmlns:a16="http://schemas.microsoft.com/office/drawing/2014/main" id="{81EFA0CE-7231-30CB-1257-208101D8404F}"/>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D1BE1FF9-9389-B8AC-59A4-18C596BAA4DA}"/>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81344210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3D716-6103-FFC7-AD18-07B43D1E7A8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977D426-3438-F494-8C12-835F80CA82E1}"/>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4" name="Footer Placeholder 3">
            <a:extLst>
              <a:ext uri="{FF2B5EF4-FFF2-40B4-BE49-F238E27FC236}">
                <a16:creationId xmlns:a16="http://schemas.microsoft.com/office/drawing/2014/main" id="{8A4807CD-1BDE-ACF0-56A4-99DCC129944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FDBEF97A-0087-E84B-86D2-C1AC961AB185}"/>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6" name="Freeform: Shape 5">
            <a:extLst>
              <a:ext uri="{FF2B5EF4-FFF2-40B4-BE49-F238E27FC236}">
                <a16:creationId xmlns:a16="http://schemas.microsoft.com/office/drawing/2014/main" id="{4E5B5EAB-95C1-290D-51B0-A0BD4360746A}"/>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7" name="Freeform: Shape 6">
            <a:extLst>
              <a:ext uri="{FF2B5EF4-FFF2-40B4-BE49-F238E27FC236}">
                <a16:creationId xmlns:a16="http://schemas.microsoft.com/office/drawing/2014/main" id="{66753FEF-0F94-0115-2A74-F91977C863B6}"/>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2802895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865618-D212-DD3B-9168-554947676C8A}"/>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3" name="Footer Placeholder 2">
            <a:extLst>
              <a:ext uri="{FF2B5EF4-FFF2-40B4-BE49-F238E27FC236}">
                <a16:creationId xmlns:a16="http://schemas.microsoft.com/office/drawing/2014/main" id="{802DA1A9-E95B-B38E-F2EE-4FF4604CFC23}"/>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D361850F-91C4-0444-F54F-3161FA289D9B}"/>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5" name="Freeform: Shape 4">
            <a:extLst>
              <a:ext uri="{FF2B5EF4-FFF2-40B4-BE49-F238E27FC236}">
                <a16:creationId xmlns:a16="http://schemas.microsoft.com/office/drawing/2014/main" id="{99EE690F-9723-C0E7-323C-AEC0F4B2D3F1}"/>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6" name="Freeform: Shape 5">
            <a:extLst>
              <a:ext uri="{FF2B5EF4-FFF2-40B4-BE49-F238E27FC236}">
                <a16:creationId xmlns:a16="http://schemas.microsoft.com/office/drawing/2014/main" id="{F4EF9EB4-93FA-3BE7-CBC6-122AB8C8128C}"/>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8936890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345A4-3E86-B24C-B009-FCB3C7BD37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AC5C26C-386A-A7F3-BA95-1FABF8E0A9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ADB952D-6FB5-1003-5C7E-4A49897A6D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1273277-DBCA-E709-ACA7-26D0EED7344D}"/>
              </a:ext>
            </a:extLst>
          </p:cNvPr>
          <p:cNvSpPr>
            <a:spLocks noGrp="1"/>
          </p:cNvSpPr>
          <p:nvPr>
            <p:ph type="dt" sz="half" idx="10"/>
          </p:nvPr>
        </p:nvSpPr>
        <p:spPr/>
        <p:txBody>
          <a:bodyPr/>
          <a:lstStyle/>
          <a:p>
            <a:fld id="{42A54C80-263E-416B-A8E0-580EDEADCBDC}" type="datetimeFigureOut">
              <a:rPr lang="en-US" smtClean="0"/>
              <a:t>1/31/2026</a:t>
            </a:fld>
            <a:endParaRPr lang="en-US" dirty="0"/>
          </a:p>
        </p:txBody>
      </p:sp>
      <p:sp>
        <p:nvSpPr>
          <p:cNvPr id="6" name="Footer Placeholder 5">
            <a:extLst>
              <a:ext uri="{FF2B5EF4-FFF2-40B4-BE49-F238E27FC236}">
                <a16:creationId xmlns:a16="http://schemas.microsoft.com/office/drawing/2014/main" id="{539F8233-996A-E161-1924-5DBA5B7E890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C932B60-6937-0029-59ED-4CA5091832B2}"/>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2920C510-C8E5-4B88-3458-137DDC2A15E5}"/>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169028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D23639-240B-3BD8-A038-FEC7A27844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8AEC8F3-2726-EAC9-7EE3-B4E1FF2AE8A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0A5518-6285-F4FC-9290-D9794BFB2B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8F3B347-6DF6-03F9-377E-FE8F8E3DA944}"/>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6" name="Footer Placeholder 5">
            <a:extLst>
              <a:ext uri="{FF2B5EF4-FFF2-40B4-BE49-F238E27FC236}">
                <a16:creationId xmlns:a16="http://schemas.microsoft.com/office/drawing/2014/main" id="{21497EDD-E452-776A-B08F-F7DE2EEAE65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8A87C5-4051-90A6-8A3F-CB5AB514DE82}"/>
              </a:ext>
            </a:extLst>
          </p:cNvPr>
          <p:cNvSpPr>
            <a:spLocks noGrp="1"/>
          </p:cNvSpPr>
          <p:nvPr>
            <p:ph type="sldNum" sz="quarter" idx="12"/>
          </p:nvPr>
        </p:nvSpPr>
        <p:spPr/>
        <p:txBody>
          <a:bodyPr/>
          <a:lstStyle/>
          <a:p>
            <a:fld id="{48F63A3B-78C7-47BE-AE5E-E10140E04643}" type="slidenum">
              <a:rPr lang="en-US" smtClean="0"/>
              <a:pPr/>
              <a:t>‹#›</a:t>
            </a:fld>
            <a:endParaRPr lang="en-US" dirty="0"/>
          </a:p>
        </p:txBody>
      </p:sp>
      <p:sp>
        <p:nvSpPr>
          <p:cNvPr id="8" name="Freeform: Shape 7">
            <a:extLst>
              <a:ext uri="{FF2B5EF4-FFF2-40B4-BE49-F238E27FC236}">
                <a16:creationId xmlns:a16="http://schemas.microsoft.com/office/drawing/2014/main" id="{9519C990-423D-85F8-8471-7D92D757EACF}"/>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Tree>
    <p:extLst>
      <p:ext uri="{BB962C8B-B14F-4D97-AF65-F5344CB8AC3E}">
        <p14:creationId xmlns:p14="http://schemas.microsoft.com/office/powerpoint/2010/main" val="30937759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33B6-0C31-A07A-A7AF-F603A519316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F17B333-EC36-97F5-F00A-0061916DD4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34B6B7-4E00-146E-5894-D7CCEF4A9870}"/>
              </a:ext>
            </a:extLst>
          </p:cNvPr>
          <p:cNvSpPr>
            <a:spLocks noGrp="1"/>
          </p:cNvSpPr>
          <p:nvPr>
            <p:ph type="dt" sz="half" idx="10"/>
          </p:nvPr>
        </p:nvSpPr>
        <p:spPr/>
        <p:txBody>
          <a:bodyPr/>
          <a:lstStyle/>
          <a:p>
            <a:fld id="{55C6B4A9-1611-4792-9094-5F34BCA07E0B}" type="datetimeFigureOut">
              <a:rPr lang="en-US" smtClean="0"/>
              <a:t>1/31/2026</a:t>
            </a:fld>
            <a:endParaRPr lang="en-US" dirty="0"/>
          </a:p>
        </p:txBody>
      </p:sp>
      <p:sp>
        <p:nvSpPr>
          <p:cNvPr id="5" name="Footer Placeholder 4">
            <a:extLst>
              <a:ext uri="{FF2B5EF4-FFF2-40B4-BE49-F238E27FC236}">
                <a16:creationId xmlns:a16="http://schemas.microsoft.com/office/drawing/2014/main" id="{22479C14-3F30-6849-85BF-FBA308F6109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F22C1B8-BDB3-6A86-8100-1846E0B94ABF}"/>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96466072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706911-4B0C-BEA3-A014-F913332EFCD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030F87F-814C-60D6-1DCC-AB2545F7C4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3880CD-B7EC-F84B-9588-FF4B76F78CF3}"/>
              </a:ext>
            </a:extLst>
          </p:cNvPr>
          <p:cNvSpPr>
            <a:spLocks noGrp="1"/>
          </p:cNvSpPr>
          <p:nvPr>
            <p:ph type="dt" sz="half" idx="10"/>
          </p:nvPr>
        </p:nvSpPr>
        <p:spPr/>
        <p:txBody>
          <a:bodyPr/>
          <a:lstStyle/>
          <a:p>
            <a:fld id="{B61BEF0D-F0BB-DE4B-95CE-6DB70DBA9567}" type="datetimeFigureOut">
              <a:rPr lang="en-US" smtClean="0"/>
              <a:pPr/>
              <a:t>1/31/2026</a:t>
            </a:fld>
            <a:endParaRPr lang="en-US" dirty="0"/>
          </a:p>
        </p:txBody>
      </p:sp>
      <p:sp>
        <p:nvSpPr>
          <p:cNvPr id="5" name="Footer Placeholder 4">
            <a:extLst>
              <a:ext uri="{FF2B5EF4-FFF2-40B4-BE49-F238E27FC236}">
                <a16:creationId xmlns:a16="http://schemas.microsoft.com/office/drawing/2014/main" id="{5C351A1A-74B0-4352-6ECA-4D701A8AE10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DF3AF91-C613-2D74-1649-ECCA8FCBCB52}"/>
              </a:ext>
            </a:extLst>
          </p:cNvPr>
          <p:cNvSpPr>
            <a:spLocks noGrp="1"/>
          </p:cNvSpPr>
          <p:nvPr>
            <p:ph type="sldNum" sz="quarter" idx="12"/>
          </p:nvPr>
        </p:nvSpPr>
        <p:spPr/>
        <p:txBody>
          <a:body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21973802"/>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38391022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155116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Times New Roman" panose="02020603050405020304" pitchFamily="18" charset="0"/>
                <a:cs typeface="Times New Roman" panose="02020603050405020304" pitchFamily="18"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atin typeface="Times New Roman" panose="02020603050405020304" pitchFamily="18" charset="0"/>
                <a:cs typeface="Times New Roman" panose="02020603050405020304" pitchFamily="18" charset="0"/>
              </a:defRPr>
            </a:lvl1pPr>
            <a:lvl2pPr>
              <a:spcBef>
                <a:spcPts val="1000"/>
              </a:spcBef>
              <a:defRPr sz="1800">
                <a:latin typeface="Times New Roman" panose="02020603050405020304" pitchFamily="18" charset="0"/>
                <a:cs typeface="Times New Roman" panose="02020603050405020304" pitchFamily="18" charset="0"/>
              </a:defRPr>
            </a:lvl2pPr>
            <a:lvl3pPr>
              <a:spcBef>
                <a:spcPts val="1000"/>
              </a:spcBef>
              <a:defRPr sz="1800">
                <a:latin typeface="Times New Roman" panose="02020603050405020304" pitchFamily="18" charset="0"/>
                <a:cs typeface="Times New Roman" panose="02020603050405020304" pitchFamily="18" charset="0"/>
              </a:defRPr>
            </a:lvl3pPr>
            <a:lvl4pPr>
              <a:spcBef>
                <a:spcPts val="1000"/>
              </a:spcBef>
              <a:defRPr sz="1800">
                <a:latin typeface="Times New Roman" panose="02020603050405020304" pitchFamily="18" charset="0"/>
                <a:cs typeface="Times New Roman" panose="02020603050405020304" pitchFamily="18" charset="0"/>
              </a:defRPr>
            </a:lvl4pPr>
            <a:lvl5pPr>
              <a:spcBef>
                <a:spcPts val="1000"/>
              </a:spcBef>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733180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atin typeface="Times New Roman" panose="02020603050405020304" pitchFamily="18" charset="0"/>
                <a:cs typeface="Times New Roman" panose="02020603050405020304" pitchFamily="18" charset="0"/>
              </a:defRPr>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atin typeface="Times New Roman" panose="02020603050405020304" pitchFamily="18" charset="0"/>
                <a:cs typeface="Times New Roman" panose="02020603050405020304" pitchFamily="18" charset="0"/>
              </a:defRPr>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atin typeface="Times New Roman" panose="02020603050405020304" pitchFamily="18" charset="0"/>
                <a:cs typeface="Times New Roman" panose="02020603050405020304" pitchFamily="18" charset="0"/>
              </a:defRPr>
            </a:lvl1pPr>
            <a:lvl2pPr marL="283464" indent="-283464">
              <a:spcBef>
                <a:spcPts val="1000"/>
              </a:spcBef>
              <a:defRPr sz="1800">
                <a:latin typeface="Times New Roman" panose="02020603050405020304" pitchFamily="18" charset="0"/>
                <a:cs typeface="Times New Roman" panose="02020603050405020304" pitchFamily="18" charset="0"/>
              </a:defRPr>
            </a:lvl2pPr>
            <a:lvl3pPr marL="283464" indent="-283464">
              <a:spcBef>
                <a:spcPts val="1000"/>
              </a:spcBef>
              <a:defRPr sz="1800">
                <a:latin typeface="Times New Roman" panose="02020603050405020304" pitchFamily="18" charset="0"/>
                <a:cs typeface="Times New Roman" panose="02020603050405020304" pitchFamily="18" charset="0"/>
              </a:defRPr>
            </a:lvl3pPr>
            <a:lvl4pPr marL="283464" indent="-283464">
              <a:spcBef>
                <a:spcPts val="1000"/>
              </a:spcBef>
              <a:defRPr sz="1800">
                <a:latin typeface="Times New Roman" panose="02020603050405020304" pitchFamily="18" charset="0"/>
                <a:cs typeface="Times New Roman" panose="02020603050405020304" pitchFamily="18" charset="0"/>
              </a:defRPr>
            </a:lvl4pPr>
            <a:lvl5pPr marL="283464" indent="-283464">
              <a:spcBef>
                <a:spcPts val="1000"/>
              </a:spcBef>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67114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latin typeface="Times New Roman" panose="02020603050405020304" pitchFamily="18" charset="0"/>
              <a:cs typeface="Times New Roman" panose="02020603050405020304" pitchFamily="18" charset="0"/>
            </a:endParaRPr>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latin typeface="Times New Roman" panose="02020603050405020304" pitchFamily="18" charset="0"/>
                <a:cs typeface="Times New Roman" panose="02020603050405020304" pitchFamily="18" charset="0"/>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atin typeface="Times New Roman" panose="02020603050405020304" pitchFamily="18" charset="0"/>
                <a:cs typeface="Times New Roman" panose="02020603050405020304" pitchFamily="18" charset="0"/>
              </a:defRPr>
            </a:lvl1pPr>
            <a:lvl2pPr marL="745236" indent="-342900">
              <a:spcBef>
                <a:spcPts val="1000"/>
              </a:spcBef>
              <a:buFont typeface="+mj-lt"/>
              <a:buAutoNum type="alphaLcPeriod"/>
              <a:defRPr sz="1800">
                <a:latin typeface="Times New Roman" panose="02020603050405020304" pitchFamily="18" charset="0"/>
                <a:cs typeface="Times New Roman" panose="02020603050405020304" pitchFamily="18" charset="0"/>
              </a:defRPr>
            </a:lvl2pPr>
            <a:lvl3pPr marL="1202436" indent="-342900">
              <a:spcBef>
                <a:spcPts val="1000"/>
              </a:spcBef>
              <a:buFont typeface="+mj-lt"/>
              <a:buAutoNum type="arabicParenR"/>
              <a:defRPr sz="1800">
                <a:latin typeface="Times New Roman" panose="02020603050405020304" pitchFamily="18" charset="0"/>
                <a:cs typeface="Times New Roman" panose="02020603050405020304" pitchFamily="18" charset="0"/>
              </a:defRPr>
            </a:lvl3pPr>
            <a:lvl4pPr marL="1659636" indent="-342900">
              <a:spcBef>
                <a:spcPts val="1000"/>
              </a:spcBef>
              <a:buFont typeface="+mj-lt"/>
              <a:buAutoNum type="alphaLcParenR"/>
              <a:defRPr sz="1800">
                <a:latin typeface="Times New Roman" panose="02020603050405020304" pitchFamily="18" charset="0"/>
                <a:cs typeface="Times New Roman" panose="02020603050405020304" pitchFamily="18" charset="0"/>
              </a:defRPr>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atin typeface="Times New Roman" panose="02020603050405020304" pitchFamily="18" charset="0"/>
                <a:cs typeface="Times New Roman" panose="02020603050405020304" pitchFamily="18" charset="0"/>
              </a:defRPr>
            </a:lvl1pPr>
            <a:lvl2pPr indent="-283464">
              <a:spcBef>
                <a:spcPts val="1000"/>
              </a:spcBef>
              <a:defRPr sz="1800">
                <a:latin typeface="Times New Roman" panose="02020603050405020304" pitchFamily="18" charset="0"/>
                <a:cs typeface="Times New Roman" panose="02020603050405020304" pitchFamily="18" charset="0"/>
              </a:defRPr>
            </a:lvl2pPr>
            <a:lvl3pPr indent="-283464">
              <a:spcBef>
                <a:spcPts val="1000"/>
              </a:spcBef>
              <a:defRPr sz="1800">
                <a:latin typeface="Times New Roman" panose="02020603050405020304" pitchFamily="18" charset="0"/>
                <a:cs typeface="Times New Roman" panose="02020603050405020304" pitchFamily="18" charset="0"/>
              </a:defRPr>
            </a:lvl3pPr>
            <a:lvl4pPr indent="-283464">
              <a:spcBef>
                <a:spcPts val="1000"/>
              </a:spcBef>
              <a:defRPr sz="1800">
                <a:latin typeface="Times New Roman" panose="02020603050405020304" pitchFamily="18" charset="0"/>
                <a:cs typeface="Times New Roman" panose="02020603050405020304" pitchFamily="18" charset="0"/>
              </a:defRPr>
            </a:lvl4pPr>
            <a:lvl5pPr indent="-283464">
              <a:spcBef>
                <a:spcPts val="1000"/>
              </a:spcBef>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9166406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atin typeface="Times New Roman" panose="02020603050405020304" pitchFamily="18" charset="0"/>
                <a:cs typeface="Times New Roman" panose="02020603050405020304" pitchFamily="18" charset="0"/>
              </a:defRPr>
            </a:lvl1pPr>
            <a:lvl2pPr marL="347472">
              <a:lnSpc>
                <a:spcPct val="100000"/>
              </a:lnSpc>
              <a:spcBef>
                <a:spcPts val="0"/>
              </a:spcBef>
              <a:defRPr sz="2400">
                <a:latin typeface="Times New Roman" panose="02020603050405020304" pitchFamily="18" charset="0"/>
                <a:cs typeface="Times New Roman" panose="02020603050405020304" pitchFamily="18" charset="0"/>
              </a:defRPr>
            </a:lvl2pPr>
            <a:lvl3pPr marL="685800">
              <a:lnSpc>
                <a:spcPct val="100000"/>
              </a:lnSpc>
              <a:spcBef>
                <a:spcPts val="0"/>
              </a:spcBef>
              <a:defRPr sz="2400">
                <a:latin typeface="Times New Roman" panose="02020603050405020304" pitchFamily="18" charset="0"/>
                <a:cs typeface="Times New Roman" panose="02020603050405020304" pitchFamily="18" charset="0"/>
              </a:defRPr>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62394517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atin typeface="Times New Roman" panose="02020603050405020304" pitchFamily="18" charset="0"/>
                <a:cs typeface="Times New Roman" panose="02020603050405020304" pitchFamily="18" charset="0"/>
              </a:defRPr>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atin typeface="Times New Roman" panose="02020603050405020304" pitchFamily="18" charset="0"/>
                <a:cs typeface="Times New Roman" panose="02020603050405020304" pitchFamily="18" charset="0"/>
              </a:defRPr>
            </a:lvl1pPr>
            <a:lvl2pPr>
              <a:spcBef>
                <a:spcPts val="1000"/>
              </a:spcBef>
              <a:defRPr sz="1800">
                <a:latin typeface="Times New Roman" panose="02020603050405020304" pitchFamily="18" charset="0"/>
                <a:cs typeface="Times New Roman" panose="02020603050405020304" pitchFamily="18" charset="0"/>
              </a:defRPr>
            </a:lvl2pPr>
            <a:lvl3pPr>
              <a:spcBef>
                <a:spcPts val="1000"/>
              </a:spcBef>
              <a:defRPr sz="1800">
                <a:latin typeface="Times New Roman" panose="02020603050405020304" pitchFamily="18" charset="0"/>
                <a:cs typeface="Times New Roman" panose="02020603050405020304" pitchFamily="18" charset="0"/>
              </a:defRPr>
            </a:lvl3pPr>
            <a:lvl4pPr>
              <a:spcBef>
                <a:spcPts val="1000"/>
              </a:spcBef>
              <a:defRPr sz="1800">
                <a:latin typeface="Times New Roman" panose="02020603050405020304" pitchFamily="18" charset="0"/>
                <a:cs typeface="Times New Roman" panose="02020603050405020304" pitchFamily="18" charset="0"/>
              </a:defRPr>
            </a:lvl4pPr>
            <a:lvl5pPr>
              <a:spcBef>
                <a:spcPts val="1000"/>
              </a:spcBef>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atin typeface="Times New Roman" panose="02020603050405020304" pitchFamily="18" charset="0"/>
                <a:cs typeface="Times New Roman" panose="02020603050405020304" pitchFamily="18" charset="0"/>
              </a:defRPr>
            </a:lvl1pPr>
            <a:lvl2pPr>
              <a:spcBef>
                <a:spcPts val="1000"/>
              </a:spcBef>
              <a:defRPr sz="1800">
                <a:latin typeface="Times New Roman" panose="02020603050405020304" pitchFamily="18" charset="0"/>
                <a:cs typeface="Times New Roman" panose="02020603050405020304" pitchFamily="18" charset="0"/>
              </a:defRPr>
            </a:lvl2pPr>
            <a:lvl3pPr>
              <a:spcBef>
                <a:spcPts val="1000"/>
              </a:spcBef>
              <a:defRPr sz="1800">
                <a:latin typeface="Times New Roman" panose="02020603050405020304" pitchFamily="18" charset="0"/>
                <a:cs typeface="Times New Roman" panose="02020603050405020304" pitchFamily="18" charset="0"/>
              </a:defRPr>
            </a:lvl3pPr>
            <a:lvl4pPr>
              <a:spcBef>
                <a:spcPts val="1000"/>
              </a:spcBef>
              <a:defRPr sz="1800">
                <a:latin typeface="Times New Roman" panose="02020603050405020304" pitchFamily="18" charset="0"/>
                <a:cs typeface="Times New Roman" panose="02020603050405020304" pitchFamily="18" charset="0"/>
              </a:defRPr>
            </a:lvl4pPr>
            <a:lvl5pPr>
              <a:spcBef>
                <a:spcPts val="1000"/>
              </a:spcBef>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15073429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atin typeface="Times New Roman" panose="02020603050405020304" pitchFamily="18" charset="0"/>
                <a:cs typeface="Times New Roman" panose="02020603050405020304" pitchFamily="18" charset="0"/>
              </a:defRPr>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atin typeface="Times New Roman" panose="02020603050405020304" pitchFamily="18" charset="0"/>
                <a:cs typeface="Times New Roman" panose="02020603050405020304" pitchFamily="18" charset="0"/>
              </a:defRPr>
            </a:lvl1pPr>
            <a:lvl2pPr marL="347472">
              <a:lnSpc>
                <a:spcPct val="100000"/>
              </a:lnSpc>
              <a:spcBef>
                <a:spcPts val="0"/>
              </a:spcBef>
              <a:defRPr sz="2400">
                <a:latin typeface="Times New Roman" panose="02020603050405020304" pitchFamily="18" charset="0"/>
                <a:cs typeface="Times New Roman" panose="02020603050405020304" pitchFamily="18" charset="0"/>
              </a:defRPr>
            </a:lvl2pPr>
            <a:lvl3pPr marL="685800">
              <a:lnSpc>
                <a:spcPct val="100000"/>
              </a:lnSpc>
              <a:spcBef>
                <a:spcPts val="0"/>
              </a:spcBef>
              <a:defRPr sz="2400">
                <a:latin typeface="Times New Roman" panose="02020603050405020304" pitchFamily="18" charset="0"/>
                <a:cs typeface="Times New Roman" panose="02020603050405020304" pitchFamily="18" charset="0"/>
              </a:defRPr>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9823979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latin typeface="Times New Roman" panose="02020603050405020304" pitchFamily="18" charset="0"/>
                <a:cs typeface="Times New Roman" panose="02020603050405020304" pitchFamily="18" charset="0"/>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atin typeface="Times New Roman" panose="02020603050405020304" pitchFamily="18" charset="0"/>
                <a:cs typeface="Times New Roman" panose="02020603050405020304" pitchFamily="18" charset="0"/>
              </a:defRPr>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atin typeface="Times New Roman" panose="02020603050405020304" pitchFamily="18" charset="0"/>
                <a:cs typeface="Times New Roman" panose="02020603050405020304" pitchFamily="18" charset="0"/>
              </a:defRPr>
            </a:lvl1pPr>
            <a:lvl2pPr>
              <a:defRPr sz="1800">
                <a:latin typeface="Times New Roman" panose="02020603050405020304" pitchFamily="18" charset="0"/>
                <a:cs typeface="Times New Roman" panose="02020603050405020304" pitchFamily="18" charset="0"/>
              </a:defRPr>
            </a:lvl2pPr>
            <a:lvl3pPr>
              <a:defRPr sz="1800">
                <a:latin typeface="Times New Roman" panose="02020603050405020304" pitchFamily="18" charset="0"/>
                <a:cs typeface="Times New Roman" panose="02020603050405020304" pitchFamily="18" charset="0"/>
              </a:defRPr>
            </a:lvl3pPr>
            <a:lvl4pPr>
              <a:defRPr sz="1800">
                <a:latin typeface="Times New Roman" panose="02020603050405020304" pitchFamily="18" charset="0"/>
                <a:cs typeface="Times New Roman" panose="02020603050405020304" pitchFamily="18" charset="0"/>
              </a:defRPr>
            </a:lvl4pPr>
            <a:lvl5pPr>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94807676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latin typeface="Times New Roman" panose="02020603050405020304" pitchFamily="18" charset="0"/>
                <a:cs typeface="Times New Roman" panose="02020603050405020304" pitchFamily="18" charset="0"/>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atin typeface="Times New Roman" panose="02020603050405020304" pitchFamily="18" charset="0"/>
                <a:cs typeface="Times New Roman" panose="02020603050405020304" pitchFamily="18" charset="0"/>
              </a:defRPr>
            </a:lvl1pPr>
            <a:lvl2pPr>
              <a:spcBef>
                <a:spcPts val="1000"/>
              </a:spcBef>
              <a:defRPr sz="1800">
                <a:latin typeface="Times New Roman" panose="02020603050405020304" pitchFamily="18" charset="0"/>
                <a:cs typeface="Times New Roman" panose="02020603050405020304" pitchFamily="18" charset="0"/>
              </a:defRPr>
            </a:lvl2pPr>
            <a:lvl3pPr>
              <a:spcBef>
                <a:spcPts val="1000"/>
              </a:spcBef>
              <a:defRPr sz="1800">
                <a:latin typeface="Times New Roman" panose="02020603050405020304" pitchFamily="18" charset="0"/>
                <a:cs typeface="Times New Roman" panose="02020603050405020304" pitchFamily="18" charset="0"/>
              </a:defRPr>
            </a:lvl3pPr>
            <a:lvl4pPr>
              <a:spcBef>
                <a:spcPts val="1000"/>
              </a:spcBef>
              <a:defRPr sz="1800">
                <a:latin typeface="Times New Roman" panose="02020603050405020304" pitchFamily="18" charset="0"/>
                <a:cs typeface="Times New Roman" panose="02020603050405020304" pitchFamily="18" charset="0"/>
              </a:defRPr>
            </a:lvl4pPr>
            <a:lvl5pPr>
              <a:spcBef>
                <a:spcPts val="1000"/>
              </a:spcBef>
              <a:defRPr sz="1800">
                <a:latin typeface="Times New Roman" panose="02020603050405020304" pitchFamily="18" charset="0"/>
                <a:cs typeface="Times New Roman" panose="02020603050405020304" pitchFamily="18" charset="0"/>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2870875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latin typeface="Times New Roman" panose="02020603050405020304" pitchFamily="18" charset="0"/>
              <a:cs typeface="Times New Roman" panose="02020603050405020304" pitchFamily="18" charset="0"/>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latin typeface="Times New Roman" panose="02020603050405020304" pitchFamily="18" charset="0"/>
              <a:cs typeface="Times New Roman" panose="02020603050405020304" pitchFamily="18" charset="0"/>
            </a:endParaRPr>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atin typeface="Times New Roman" panose="02020603050405020304" pitchFamily="18" charset="0"/>
                <a:cs typeface="Times New Roman" panose="02020603050405020304" pitchFamily="18" charset="0"/>
              </a:defRPr>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30026888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970855D-8A5E-4B1B-7168-D9D439644AF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9AF6EF4-2BD9-044C-DB06-DA2E69287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D7C381A-76C8-1FC3-CAD4-E198BC86C12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61BEF0D-F0BB-DE4B-95CE-6DB70DBA9567}" type="datetimeFigureOut">
              <a:rPr lang="en-US" smtClean="0"/>
              <a:pPr/>
              <a:t>1/31/2026</a:t>
            </a:fld>
            <a:endParaRPr lang="en-US" dirty="0"/>
          </a:p>
        </p:txBody>
      </p:sp>
      <p:sp>
        <p:nvSpPr>
          <p:cNvPr id="5" name="Footer Placeholder 4">
            <a:extLst>
              <a:ext uri="{FF2B5EF4-FFF2-40B4-BE49-F238E27FC236}">
                <a16:creationId xmlns:a16="http://schemas.microsoft.com/office/drawing/2014/main" id="{AFF985E6-5B73-C887-2154-F715ADDD61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a:extLst>
              <a:ext uri="{FF2B5EF4-FFF2-40B4-BE49-F238E27FC236}">
                <a16:creationId xmlns:a16="http://schemas.microsoft.com/office/drawing/2014/main" id="{FE2AB130-3030-6FE9-B951-5002DFA6E4C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327984841"/>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680" r:id="rId23"/>
    <p:sldLayoutId id="2147483653" r:id="rId2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hyperlink" Target="https://docs.google.com/document/d/1ikq1sAPQuog70ICcOQleV3QDxH09cVJ0IP0zrqF7kJM/edit?usp=sharing" TargetMode="External"/><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hyperlink" Target="https://www.kaggle.com/code/jockeroika/crime-analysis" TargetMode="External"/><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01467" y="416937"/>
            <a:ext cx="6392421" cy="4029228"/>
          </a:xfrm>
        </p:spPr>
        <p:txBody>
          <a:bodyPr anchor="ctr"/>
          <a:lstStyle/>
          <a:p>
            <a:r>
              <a:rPr lang="en-IN" sz="3200" dirty="0">
                <a:latin typeface="Times New Roman" panose="02020603050405020304" pitchFamily="18" charset="0"/>
                <a:cs typeface="Times New Roman" panose="02020603050405020304" pitchFamily="18" charset="0"/>
              </a:rPr>
              <a:t>BATCH:43</a:t>
            </a: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Project Title:</a:t>
            </a: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a:t>
            </a:r>
            <a:r>
              <a:rPr lang="en-US" dirty="0"/>
              <a:t>Clustering‑Based Crime Pattern Analysis”</a:t>
            </a:r>
            <a:br>
              <a:rPr lang="en-US" dirty="0"/>
            </a:br>
            <a:br>
              <a:rPr lang="en-IN" sz="2400" dirty="0">
                <a:latin typeface="Times New Roman" panose="02020603050405020304" pitchFamily="18" charset="0"/>
                <a:cs typeface="Times New Roman" panose="02020603050405020304" pitchFamily="18" charset="0"/>
              </a:rPr>
            </a:br>
            <a:br>
              <a:rPr lang="en-IN" sz="2400" dirty="0">
                <a:latin typeface="Times New Roman" panose="02020603050405020304" pitchFamily="18" charset="0"/>
                <a:cs typeface="Times New Roman" panose="02020603050405020304" pitchFamily="18" charset="0"/>
              </a:rPr>
            </a:br>
            <a:endParaRPr lang="en-US" sz="2400" dirty="0"/>
          </a:p>
        </p:txBody>
      </p:sp>
      <p:sp>
        <p:nvSpPr>
          <p:cNvPr id="4" name="TextBox 3">
            <a:extLst>
              <a:ext uri="{FF2B5EF4-FFF2-40B4-BE49-F238E27FC236}">
                <a16:creationId xmlns:a16="http://schemas.microsoft.com/office/drawing/2014/main" id="{83BE262B-68BE-6AAF-B35B-4DC3C84A5176}"/>
              </a:ext>
            </a:extLst>
          </p:cNvPr>
          <p:cNvSpPr txBox="1"/>
          <p:nvPr/>
        </p:nvSpPr>
        <p:spPr>
          <a:xfrm>
            <a:off x="4355690" y="5241044"/>
            <a:ext cx="6096000" cy="923330"/>
          </a:xfrm>
          <a:prstGeom prst="rect">
            <a:avLst/>
          </a:prstGeom>
          <a:noFill/>
        </p:spPr>
        <p:txBody>
          <a:bodyPr wrap="square">
            <a:spAutoFit/>
          </a:bodyPr>
          <a:lstStyle/>
          <a:p>
            <a:pPr algn="r"/>
            <a:r>
              <a:rPr lang="it-IT" b="1" dirty="0">
                <a:solidFill>
                  <a:schemeClr val="bg1"/>
                </a:solidFill>
                <a:latin typeface="Times New Roman" panose="02020603050405020304" pitchFamily="18" charset="0"/>
                <a:cs typeface="Times New Roman" panose="02020603050405020304" pitchFamily="18" charset="0"/>
              </a:rPr>
              <a:t>GUIDE: Dr. Prashant Upadhyay</a:t>
            </a:r>
            <a:endParaRPr lang="it-IT" dirty="0">
              <a:solidFill>
                <a:schemeClr val="bg1"/>
              </a:solidFill>
              <a:latin typeface="Times New Roman" panose="02020603050405020304" pitchFamily="18" charset="0"/>
              <a:cs typeface="Times New Roman" panose="02020603050405020304" pitchFamily="18" charset="0"/>
            </a:endParaRPr>
          </a:p>
          <a:p>
            <a:pPr algn="r"/>
            <a:r>
              <a:rPr lang="it-IT" dirty="0">
                <a:solidFill>
                  <a:schemeClr val="bg1"/>
                </a:solidFill>
                <a:latin typeface="Times New Roman" panose="02020603050405020304" pitchFamily="18" charset="0"/>
                <a:cs typeface="Times New Roman" panose="02020603050405020304" pitchFamily="18" charset="0"/>
              </a:rPr>
              <a:t>221FA04108(K.Nikhil)</a:t>
            </a:r>
          </a:p>
          <a:p>
            <a:pPr algn="r"/>
            <a:r>
              <a:rPr lang="it-IT">
                <a:solidFill>
                  <a:schemeClr val="bg1"/>
                </a:solidFill>
                <a:latin typeface="Times New Roman" panose="02020603050405020304" pitchFamily="18" charset="0"/>
                <a:cs typeface="Times New Roman" panose="02020603050405020304" pitchFamily="18" charset="0"/>
              </a:rPr>
              <a:t>221FA04135(M.Srilatha</a:t>
            </a:r>
            <a:r>
              <a:rPr lang="it-IT" dirty="0">
                <a:solidFill>
                  <a:schemeClr val="bg1"/>
                </a:solidFill>
                <a:latin typeface="Times New Roman" panose="02020603050405020304" pitchFamily="18" charset="0"/>
                <a:cs typeface="Times New Roman" panose="02020603050405020304" pitchFamily="18" charset="0"/>
              </a:rPr>
              <a:t>)</a:t>
            </a:r>
          </a:p>
        </p:txBody>
      </p:sp>
      <p:pic>
        <p:nvPicPr>
          <p:cNvPr id="6" name="Picture 5">
            <a:extLst>
              <a:ext uri="{FF2B5EF4-FFF2-40B4-BE49-F238E27FC236}">
                <a16:creationId xmlns:a16="http://schemas.microsoft.com/office/drawing/2014/main" id="{4FAE332D-0D09-5A53-8345-C80752448B3D}"/>
              </a:ext>
            </a:extLst>
          </p:cNvPr>
          <p:cNvPicPr>
            <a:picLocks noChangeAspect="1"/>
          </p:cNvPicPr>
          <p:nvPr/>
        </p:nvPicPr>
        <p:blipFill>
          <a:blip r:embed="rId3"/>
          <a:stretch>
            <a:fillRect/>
          </a:stretch>
        </p:blipFill>
        <p:spPr>
          <a:xfrm>
            <a:off x="9488129" y="1"/>
            <a:ext cx="2703871" cy="757505"/>
          </a:xfrm>
          <a:prstGeom prst="rect">
            <a:avLst/>
          </a:prstGeom>
        </p:spPr>
      </p:pic>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383458" y="372021"/>
            <a:ext cx="4355690" cy="641844"/>
          </a:xfrm>
        </p:spPr>
        <p:txBody>
          <a:bodyPr/>
          <a:lstStyle/>
          <a:p>
            <a:pPr algn="r"/>
            <a:r>
              <a:rPr lang="en-IN" dirty="0">
                <a:latin typeface="Times New Roman" panose="02020603050405020304" pitchFamily="18" charset="0"/>
                <a:cs typeface="Times New Roman" panose="02020603050405020304" pitchFamily="18" charset="0"/>
              </a:rPr>
              <a:t>Motivation</a:t>
            </a:r>
            <a:endParaRPr lang="en-US"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236244" y="1208888"/>
            <a:ext cx="7256207" cy="5535861"/>
          </a:xfrm>
        </p:spPr>
        <p:txBody>
          <a:bodyPr>
            <a:no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Crime is a major social problem affecting public safety and quality of life.</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Large volumes of crime data are generated daily by law enforcement agencies.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Manual analysis of crime data is time‑consuming and inefficient.</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Traditional methods fail to identify hidden spatial and temporal crime patterns.</a:t>
            </a: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There is a need for an </a:t>
            </a:r>
            <a:r>
              <a:rPr lang="en-US" sz="2000" b="1" dirty="0">
                <a:latin typeface="Times New Roman" panose="02020603050405020304" pitchFamily="18" charset="0"/>
                <a:cs typeface="Times New Roman" panose="02020603050405020304" pitchFamily="18" charset="0"/>
              </a:rPr>
              <a:t>automated data‑driven system</a:t>
            </a:r>
            <a:r>
              <a:rPr lang="en-US" sz="2000" dirty="0">
                <a:latin typeface="Times New Roman" panose="02020603050405020304" pitchFamily="18" charset="0"/>
                <a:cs typeface="Times New Roman" panose="02020603050405020304" pitchFamily="18" charset="0"/>
              </a:rPr>
              <a:t> to identify crime hotspots.</a:t>
            </a:r>
          </a:p>
          <a:p>
            <a:r>
              <a:rPr lang="en-US" sz="2000" b="1" dirty="0">
                <a:latin typeface="Times New Roman" panose="02020603050405020304" pitchFamily="18" charset="0"/>
                <a:cs typeface="Times New Roman" panose="02020603050405020304" pitchFamily="18" charset="0"/>
              </a:rPr>
              <a:t>Goal</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To analyze crime data using clustering techniques and identify meaningful crime patterns that support preventive policing.</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p:txBody>
          <a:bodyPr/>
          <a:lstStyle/>
          <a:p>
            <a:pPr algn="ctr"/>
            <a:r>
              <a:rPr lang="en-IN" dirty="0"/>
              <a:t>Problem Statement</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2902591" y="2691954"/>
            <a:ext cx="8182397" cy="3108772"/>
          </a:xfrm>
        </p:spPr>
        <p:txBody>
          <a:bodyPr>
            <a:normAutofit/>
          </a:bodyPr>
          <a:lstStyle/>
          <a:p>
            <a:pPr marL="0" indent="0" algn="just">
              <a:buNone/>
            </a:pPr>
            <a:r>
              <a:rPr lang="en-US" sz="2000" dirty="0"/>
              <a:t>Despite the availability of large-scale crime datasets, existing crime analysis approaches rely heavily on manual reporting and basic statistical methods. These methods are ineffective in discovering hidden spatial and temporal patterns in crime data. Additionally, many existing systems do not handle noisy and unlabeled crime data efficiently. Therefore, there is a need to develop an automated clustering‑based system that can analyze crime data and identify crime hotspots and patterns to assist law enforcement decision‑making.</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p:txBody>
          <a:bodyPr/>
          <a:lstStyle/>
          <a:p>
            <a:fld id="{48F63A3B-78C7-47BE-AE5E-E10140E04643}" type="slidenum">
              <a:rPr lang="en-US" smtClean="0"/>
              <a:pPr/>
              <a:t>3</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F0D9D-A2B6-39AF-92A0-C3617D83113C}"/>
              </a:ext>
            </a:extLst>
          </p:cNvPr>
          <p:cNvSpPr>
            <a:spLocks noGrp="1"/>
          </p:cNvSpPr>
          <p:nvPr>
            <p:ph type="title"/>
          </p:nvPr>
        </p:nvSpPr>
        <p:spPr>
          <a:xfrm>
            <a:off x="3460566" y="817789"/>
            <a:ext cx="7965461" cy="994164"/>
          </a:xfrm>
        </p:spPr>
        <p:txBody>
          <a:bodyPr/>
          <a:lstStyle/>
          <a:p>
            <a:pPr algn="ctr"/>
            <a:r>
              <a:rPr lang="en-IN" dirty="0"/>
              <a:t>Introduction</a:t>
            </a:r>
          </a:p>
        </p:txBody>
      </p:sp>
      <p:sp>
        <p:nvSpPr>
          <p:cNvPr id="3" name="Content Placeholder 2">
            <a:extLst>
              <a:ext uri="{FF2B5EF4-FFF2-40B4-BE49-F238E27FC236}">
                <a16:creationId xmlns:a16="http://schemas.microsoft.com/office/drawing/2014/main" id="{FC768E4A-8F8F-E21A-0EDC-86140994DE6F}"/>
              </a:ext>
            </a:extLst>
          </p:cNvPr>
          <p:cNvSpPr>
            <a:spLocks noGrp="1"/>
          </p:cNvSpPr>
          <p:nvPr>
            <p:ph sz="half" idx="2"/>
          </p:nvPr>
        </p:nvSpPr>
        <p:spPr>
          <a:xfrm>
            <a:off x="3460566" y="2695219"/>
            <a:ext cx="7965460" cy="4473514"/>
          </a:xfrm>
        </p:spPr>
        <p:txBody>
          <a:bodyPr>
            <a:normAutofit/>
          </a:bodyPr>
          <a:lstStyle/>
          <a:p>
            <a:pPr marL="0" indent="0" algn="just">
              <a:buNone/>
            </a:pPr>
            <a:r>
              <a:rPr lang="en-US" sz="2000" dirty="0"/>
              <a:t>Crime pattern analysis plays a crucial role in maintaining public safety. With increasing urbanization, crime data has become complex, large, and multi‑dimensional. Machine learning techniques, particularly </a:t>
            </a:r>
            <a:r>
              <a:rPr lang="en-US" sz="2000" b="1" dirty="0"/>
              <a:t>unsupervised clustering</a:t>
            </a:r>
            <a:r>
              <a:rPr lang="en-US" sz="2000" dirty="0"/>
              <a:t>, provide an effective solution for analyzing such data.</a:t>
            </a:r>
          </a:p>
          <a:p>
            <a:pPr marL="0" indent="0" algn="just">
              <a:buNone/>
            </a:pPr>
            <a:br>
              <a:rPr lang="en-US" sz="2000" dirty="0"/>
            </a:br>
            <a:r>
              <a:rPr lang="en-US" sz="2000" dirty="0"/>
              <a:t>This project focuses on applying clustering algorithms such as </a:t>
            </a:r>
            <a:r>
              <a:rPr lang="en-US" sz="2000" b="1" dirty="0"/>
              <a:t>K‑Means and DBSCAN</a:t>
            </a:r>
            <a:r>
              <a:rPr lang="en-US" sz="2000" dirty="0"/>
              <a:t> to group similar crime incidents based on location and time, enabling the identification of crime hotspots and trends.</a:t>
            </a:r>
          </a:p>
          <a:p>
            <a:pPr marL="0" indent="0" algn="just">
              <a:buNone/>
            </a:pPr>
            <a:br>
              <a:rPr lang="en-US" sz="2000" dirty="0"/>
            </a:br>
            <a:endParaRPr lang="en-IN" sz="2000" dirty="0"/>
          </a:p>
        </p:txBody>
      </p:sp>
      <p:sp>
        <p:nvSpPr>
          <p:cNvPr id="4" name="Slide Number Placeholder 3">
            <a:extLst>
              <a:ext uri="{FF2B5EF4-FFF2-40B4-BE49-F238E27FC236}">
                <a16:creationId xmlns:a16="http://schemas.microsoft.com/office/drawing/2014/main" id="{0248C0A8-B9A4-C38C-66F5-72CE0FA53512}"/>
              </a:ext>
            </a:extLst>
          </p:cNvPr>
          <p:cNvSpPr>
            <a:spLocks noGrp="1"/>
          </p:cNvSpPr>
          <p:nvPr>
            <p:ph type="sldNum" sz="quarter" idx="10"/>
          </p:nvPr>
        </p:nvSpPr>
        <p:spPr/>
        <p:txBody>
          <a:bodyPr/>
          <a:lstStyle/>
          <a:p>
            <a:fld id="{48F63A3B-78C7-47BE-AE5E-E10140E04643}" type="slidenum">
              <a:rPr lang="en-US" smtClean="0"/>
              <a:pPr/>
              <a:t>4</a:t>
            </a:fld>
            <a:endParaRPr lang="en-US" dirty="0"/>
          </a:p>
        </p:txBody>
      </p:sp>
    </p:spTree>
    <p:extLst>
      <p:ext uri="{BB962C8B-B14F-4D97-AF65-F5344CB8AC3E}">
        <p14:creationId xmlns:p14="http://schemas.microsoft.com/office/powerpoint/2010/main" val="5042090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1130710" y="152627"/>
            <a:ext cx="6567949" cy="471489"/>
          </a:xfrm>
        </p:spPr>
        <p:txBody>
          <a:bodyPr/>
          <a:lstStyle/>
          <a:p>
            <a:pPr algn="ctr"/>
            <a:r>
              <a:rPr lang="en-IN" dirty="0"/>
              <a:t>Literature Survey</a:t>
            </a:r>
            <a:endParaRPr lang="en-US" dirty="0"/>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p:txBody>
          <a:bodyPr/>
          <a:lstStyle/>
          <a:p>
            <a:fld id="{48F63A3B-78C7-47BE-AE5E-E10140E04643}" type="slidenum">
              <a:rPr lang="en-US" smtClean="0"/>
              <a:pPr/>
              <a:t>5</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481780" y="696344"/>
            <a:ext cx="8032956" cy="6161655"/>
          </a:xfrm>
        </p:spPr>
        <p:txBody>
          <a:bodyPr>
            <a:noAutofit/>
          </a:bodyPr>
          <a:lstStyle/>
          <a:p>
            <a:r>
              <a:rPr lang="en-US" b="1" dirty="0"/>
              <a:t>Paper Group 1: Traditional Clustering</a:t>
            </a:r>
          </a:p>
          <a:p>
            <a:r>
              <a:rPr lang="en-US" b="1" dirty="0"/>
              <a:t>Methods:</a:t>
            </a:r>
            <a:r>
              <a:rPr lang="en-US" dirty="0"/>
              <a:t> K‑Means, Hierarchical Clustering</a:t>
            </a:r>
            <a:br>
              <a:rPr lang="en-US" dirty="0"/>
            </a:br>
            <a:r>
              <a:rPr lang="en-US" b="1" dirty="0"/>
              <a:t>Used for:</a:t>
            </a:r>
            <a:r>
              <a:rPr lang="en-US" dirty="0"/>
              <a:t> Crime hotspot identification using spatial data</a:t>
            </a:r>
            <a:br>
              <a:rPr lang="en-US" dirty="0"/>
            </a:br>
            <a:r>
              <a:rPr lang="en-US" b="1" dirty="0"/>
              <a:t>Pros:</a:t>
            </a:r>
            <a:br>
              <a:rPr lang="en-US" dirty="0"/>
            </a:br>
            <a:r>
              <a:rPr lang="en-US" dirty="0"/>
              <a:t>• Simple and fast</a:t>
            </a:r>
            <a:br>
              <a:rPr lang="en-US" dirty="0"/>
            </a:br>
            <a:r>
              <a:rPr lang="en-US" dirty="0"/>
              <a:t>• Easy to interpret</a:t>
            </a:r>
            <a:br>
              <a:rPr lang="en-US" dirty="0"/>
            </a:br>
            <a:r>
              <a:rPr lang="en-US" dirty="0"/>
              <a:t>• Works well on large datasets</a:t>
            </a:r>
            <a:br>
              <a:rPr lang="en-US" dirty="0"/>
            </a:br>
            <a:r>
              <a:rPr lang="en-US" b="1" dirty="0"/>
              <a:t>Cons:</a:t>
            </a:r>
            <a:br>
              <a:rPr lang="en-US" dirty="0"/>
            </a:br>
            <a:r>
              <a:rPr lang="en-US" dirty="0"/>
              <a:t>• Requires predefined number of clusters</a:t>
            </a:r>
            <a:br>
              <a:rPr lang="en-US" dirty="0"/>
            </a:br>
            <a:r>
              <a:rPr lang="en-US" dirty="0"/>
              <a:t>• Sensitive to noise and outliers</a:t>
            </a:r>
          </a:p>
          <a:p>
            <a:r>
              <a:rPr lang="en-US" b="1" dirty="0"/>
              <a:t>Paper Group 2: Density‑Based Clustering</a:t>
            </a:r>
          </a:p>
          <a:p>
            <a:r>
              <a:rPr lang="en-US" b="1" dirty="0"/>
              <a:t>Methods:</a:t>
            </a:r>
            <a:r>
              <a:rPr lang="en-US" dirty="0"/>
              <a:t> DBSCAN, OPTICS</a:t>
            </a:r>
            <a:br>
              <a:rPr lang="en-US" dirty="0"/>
            </a:br>
            <a:r>
              <a:rPr lang="en-US" b="1" dirty="0"/>
              <a:t>Used for:</a:t>
            </a:r>
            <a:r>
              <a:rPr lang="en-US" dirty="0"/>
              <a:t> Detecting dense and irregular crime regions</a:t>
            </a:r>
            <a:br>
              <a:rPr lang="en-US" dirty="0"/>
            </a:br>
            <a:r>
              <a:rPr lang="en-US" b="1" dirty="0"/>
              <a:t>Pros:</a:t>
            </a:r>
            <a:br>
              <a:rPr lang="en-US" dirty="0"/>
            </a:br>
            <a:r>
              <a:rPr lang="en-US" dirty="0"/>
              <a:t>• No need to specify number of clusters</a:t>
            </a:r>
            <a:br>
              <a:rPr lang="en-US" dirty="0"/>
            </a:br>
            <a:r>
              <a:rPr lang="en-US" dirty="0"/>
              <a:t>• Handles noise effectively</a:t>
            </a:r>
            <a:br>
              <a:rPr lang="en-US" dirty="0"/>
            </a:br>
            <a:r>
              <a:rPr lang="en-US" dirty="0"/>
              <a:t>• Detects arbitrary‑shaped hotspots</a:t>
            </a:r>
            <a:br>
              <a:rPr lang="en-US" dirty="0"/>
            </a:br>
            <a:r>
              <a:rPr lang="en-US" b="1" dirty="0"/>
              <a:t>Cons:</a:t>
            </a:r>
            <a:br>
              <a:rPr lang="en-US" dirty="0"/>
            </a:br>
            <a:r>
              <a:rPr lang="en-US" dirty="0"/>
              <a:t>• Sensitive to parameter selection</a:t>
            </a:r>
            <a:br>
              <a:rPr lang="en-US" dirty="0"/>
            </a:br>
            <a:r>
              <a:rPr lang="en-US" dirty="0"/>
              <a:t>• Performance reduces with varying density</a:t>
            </a:r>
          </a:p>
          <a:p>
            <a:r>
              <a:rPr lang="en-US" b="1" dirty="0"/>
              <a:t>LINK </a:t>
            </a:r>
            <a:r>
              <a:rPr lang="en-US" dirty="0"/>
              <a:t>- </a:t>
            </a:r>
            <a:r>
              <a:rPr lang="en-US" dirty="0">
                <a:hlinkClick r:id="rId3"/>
              </a:rPr>
              <a:t>https://docs.google.com/document/d/1ikq1sAPQuog70ICcOQleV3QDxH09cVJ0IP0zrqF7kJM/edit?usp=sharing</a:t>
            </a:r>
            <a:br>
              <a:rPr lang="en-US" dirty="0"/>
            </a:br>
            <a:endParaRPr lang="en-US" dirty="0"/>
          </a:p>
        </p:txBody>
      </p:sp>
    </p:spTree>
    <p:extLst>
      <p:ext uri="{BB962C8B-B14F-4D97-AF65-F5344CB8AC3E}">
        <p14:creationId xmlns:p14="http://schemas.microsoft.com/office/powerpoint/2010/main" val="2468595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35B4A-DB0F-EE30-6918-3B58AB714C57}"/>
              </a:ext>
            </a:extLst>
          </p:cNvPr>
          <p:cNvSpPr>
            <a:spLocks noGrp="1"/>
          </p:cNvSpPr>
          <p:nvPr>
            <p:ph type="title"/>
          </p:nvPr>
        </p:nvSpPr>
        <p:spPr/>
        <p:txBody>
          <a:bodyPr/>
          <a:lstStyle/>
          <a:p>
            <a:pPr algn="ctr"/>
            <a:r>
              <a:rPr lang="en-US" sz="2800" dirty="0"/>
              <a:t>Overall Analysis and Research Gap</a:t>
            </a:r>
          </a:p>
        </p:txBody>
      </p:sp>
      <p:sp>
        <p:nvSpPr>
          <p:cNvPr id="3" name="Content Placeholder 2">
            <a:extLst>
              <a:ext uri="{FF2B5EF4-FFF2-40B4-BE49-F238E27FC236}">
                <a16:creationId xmlns:a16="http://schemas.microsoft.com/office/drawing/2014/main" id="{DE8B6351-593E-445D-1BA4-2BFC0F2B17B5}"/>
              </a:ext>
            </a:extLst>
          </p:cNvPr>
          <p:cNvSpPr>
            <a:spLocks noGrp="1"/>
          </p:cNvSpPr>
          <p:nvPr>
            <p:ph sz="half" idx="2"/>
          </p:nvPr>
        </p:nvSpPr>
        <p:spPr>
          <a:xfrm>
            <a:off x="3460565" y="2441195"/>
            <a:ext cx="7965460" cy="3556933"/>
          </a:xfrm>
        </p:spPr>
        <p:txBody>
          <a:bodyPr>
            <a:normAutofit/>
          </a:bodyPr>
          <a:lstStyle/>
          <a:p>
            <a:pPr algn="just"/>
            <a:r>
              <a:rPr lang="en-US" sz="2000" dirty="0"/>
              <a:t>From the literature survey, it is observed that:</a:t>
            </a:r>
          </a:p>
          <a:p>
            <a:pPr algn="just"/>
            <a:r>
              <a:rPr lang="en-US" sz="2000" dirty="0"/>
              <a:t>K‑Means is efficient but sensitive to noise</a:t>
            </a:r>
          </a:p>
          <a:p>
            <a:pPr algn="just"/>
            <a:r>
              <a:rPr lang="en-US" sz="2000" dirty="0"/>
              <a:t>DBSCAN handles noise but struggles with varying densities</a:t>
            </a:r>
          </a:p>
          <a:p>
            <a:pPr algn="just"/>
            <a:r>
              <a:rPr lang="en-US" sz="2000" dirty="0"/>
              <a:t>Most studies focus on either spatial or temporal analysis</a:t>
            </a:r>
          </a:p>
          <a:p>
            <a:pPr marL="0" indent="0" algn="just">
              <a:buNone/>
            </a:pPr>
            <a:endParaRPr lang="en-US" sz="2000" dirty="0"/>
          </a:p>
          <a:p>
            <a:pPr marL="0" indent="0">
              <a:buNone/>
            </a:pPr>
            <a:r>
              <a:rPr lang="en-US" sz="2000" b="1" dirty="0"/>
              <a:t>Research Gap</a:t>
            </a:r>
          </a:p>
          <a:p>
            <a:pPr marL="0" indent="0" algn="just">
              <a:buNone/>
            </a:pPr>
            <a:br>
              <a:rPr lang="en-US" sz="2000" dirty="0"/>
            </a:br>
            <a:r>
              <a:rPr lang="en-US" sz="2000" dirty="0"/>
              <a:t>There is a need for a </a:t>
            </a:r>
            <a:r>
              <a:rPr lang="en-US" sz="2000" b="1" dirty="0"/>
              <a:t>hybrid clustering‑based approach</a:t>
            </a:r>
            <a:r>
              <a:rPr lang="en-US" sz="2000" dirty="0"/>
              <a:t> that combines spatial and temporal analysis while handling noise effectively. This gap is addressed in the proposed project </a:t>
            </a:r>
            <a:r>
              <a:rPr lang="en-US" sz="2000" i="1" dirty="0"/>
              <a:t>Clustering‑Based Crime Pattern Analysis</a:t>
            </a:r>
            <a:r>
              <a:rPr lang="en-US" sz="2000" dirty="0"/>
              <a:t>.</a:t>
            </a:r>
          </a:p>
        </p:txBody>
      </p:sp>
      <p:sp>
        <p:nvSpPr>
          <p:cNvPr id="4" name="Slide Number Placeholder 3">
            <a:extLst>
              <a:ext uri="{FF2B5EF4-FFF2-40B4-BE49-F238E27FC236}">
                <a16:creationId xmlns:a16="http://schemas.microsoft.com/office/drawing/2014/main" id="{D9988F86-5CEC-EAD2-C8E4-4DCA84FB72F6}"/>
              </a:ext>
            </a:extLst>
          </p:cNvPr>
          <p:cNvSpPr>
            <a:spLocks noGrp="1"/>
          </p:cNvSpPr>
          <p:nvPr>
            <p:ph type="sldNum" sz="quarter" idx="10"/>
          </p:nvPr>
        </p:nvSpPr>
        <p:spPr/>
        <p:txBody>
          <a:bodyPr/>
          <a:lstStyle/>
          <a:p>
            <a:fld id="{48F63A3B-78C7-47BE-AE5E-E10140E04643}" type="slidenum">
              <a:rPr lang="en-US" smtClean="0"/>
              <a:pPr/>
              <a:t>6</a:t>
            </a:fld>
            <a:endParaRPr lang="en-US" dirty="0"/>
          </a:p>
        </p:txBody>
      </p:sp>
    </p:spTree>
    <p:extLst>
      <p:ext uri="{BB962C8B-B14F-4D97-AF65-F5344CB8AC3E}">
        <p14:creationId xmlns:p14="http://schemas.microsoft.com/office/powerpoint/2010/main" val="1341455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1091381" y="532773"/>
            <a:ext cx="7631709" cy="1091627"/>
          </a:xfrm>
        </p:spPr>
        <p:txBody>
          <a:bodyPr/>
          <a:lstStyle/>
          <a:p>
            <a:pPr algn="ctr"/>
            <a:r>
              <a:rPr lang="en-IN" dirty="0"/>
              <a:t>Dataset</a:t>
            </a:r>
            <a:endParaRPr lang="en-US" dirty="0"/>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a:off x="914400" y="2280732"/>
            <a:ext cx="3282950" cy="4697105"/>
          </a:xfrm>
        </p:spPr>
        <p:txBody>
          <a:bodyPr>
            <a:normAutofit/>
          </a:bodyPr>
          <a:lstStyle/>
          <a:p>
            <a:pPr marL="0" indent="0">
              <a:buNone/>
            </a:pPr>
            <a:r>
              <a:rPr lang="en-IN" b="1" dirty="0"/>
              <a:t>Attributes</a:t>
            </a:r>
            <a:endParaRPr lang="en-IN" dirty="0"/>
          </a:p>
          <a:p>
            <a:r>
              <a:rPr lang="en-IN" dirty="0"/>
              <a:t>Crime Type</a:t>
            </a:r>
          </a:p>
          <a:p>
            <a:r>
              <a:rPr lang="en-IN" dirty="0"/>
              <a:t>Date and Time</a:t>
            </a:r>
          </a:p>
          <a:p>
            <a:r>
              <a:rPr lang="en-IN" dirty="0"/>
              <a:t>Latitude</a:t>
            </a:r>
          </a:p>
          <a:p>
            <a:r>
              <a:rPr lang="en-IN" dirty="0"/>
              <a:t>Longitude</a:t>
            </a:r>
          </a:p>
          <a:p>
            <a:r>
              <a:rPr lang="en-IN" dirty="0"/>
              <a:t>Location Details</a:t>
            </a:r>
          </a:p>
          <a:p>
            <a:pPr marL="0" indent="0">
              <a:lnSpc>
                <a:spcPct val="150000"/>
              </a:lnSpc>
              <a:buNone/>
            </a:pPr>
            <a:endParaRPr lang="en-US" dirty="0"/>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4197350" y="2181852"/>
            <a:ext cx="3763963" cy="4143375"/>
          </a:xfrm>
        </p:spPr>
        <p:txBody>
          <a:bodyPr>
            <a:normAutofit fontScale="77500" lnSpcReduction="20000"/>
          </a:bodyPr>
          <a:lstStyle/>
          <a:p>
            <a:pPr marL="342900" indent="-342900">
              <a:lnSpc>
                <a:spcPct val="150000"/>
              </a:lnSpc>
              <a:buFont typeface="Wingdings" pitchFamily="2" charset="2"/>
              <a:buChar char="Ø"/>
            </a:pPr>
            <a:r>
              <a:rPr lang="en-US" sz="1900" dirty="0"/>
              <a:t>Dataset </a:t>
            </a:r>
            <a:r>
              <a:rPr lang="en-US" sz="1900" dirty="0">
                <a:hlinkClick r:id="rId3"/>
              </a:rPr>
              <a:t>https://www.kaggle.com/code/jockeroika/crime-analysis</a:t>
            </a:r>
            <a:endParaRPr lang="en-US" sz="1900" dirty="0"/>
          </a:p>
          <a:p>
            <a:pPr marL="342900" indent="-342900">
              <a:lnSpc>
                <a:spcPct val="150000"/>
              </a:lnSpc>
              <a:buFont typeface="Wingdings" pitchFamily="2" charset="2"/>
              <a:buChar char="Ø"/>
            </a:pPr>
            <a:r>
              <a:rPr lang="en-US" sz="1900" dirty="0"/>
              <a:t>Dataset Type:</a:t>
            </a:r>
          </a:p>
          <a:p>
            <a:pPr>
              <a:lnSpc>
                <a:spcPct val="150000"/>
              </a:lnSpc>
            </a:pPr>
            <a:r>
              <a:rPr lang="en-US" sz="1900" dirty="0"/>
              <a:t>Structured crime records (spatial and temporal data)</a:t>
            </a:r>
          </a:p>
          <a:p>
            <a:br>
              <a:rPr lang="en-US" sz="1900" dirty="0"/>
            </a:br>
            <a:endParaRPr lang="en-US" sz="1900" dirty="0"/>
          </a:p>
          <a:p>
            <a:pPr marL="285750" indent="-285750">
              <a:lnSpc>
                <a:spcPct val="150000"/>
              </a:lnSpc>
              <a:buFont typeface="Wingdings" pitchFamily="2" charset="2"/>
              <a:buChar char="Ø"/>
            </a:pPr>
            <a:r>
              <a:rPr lang="en-US" sz="1900" dirty="0"/>
              <a:t>Dataset size:</a:t>
            </a:r>
          </a:p>
          <a:p>
            <a:pPr algn="just"/>
            <a:r>
              <a:rPr lang="en-US" sz="1900" dirty="0"/>
              <a:t>1.05 million real‑world crime records containing spatial (latitude, longitude) and temporal features</a:t>
            </a:r>
          </a:p>
          <a:p>
            <a:br>
              <a:rPr lang="en-US" dirty="0"/>
            </a:br>
            <a:endParaRPr lang="en-US" dirty="0"/>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p:txBody>
          <a:bodyPr/>
          <a:lstStyle/>
          <a:p>
            <a:fld id="{48F63A3B-78C7-47BE-AE5E-E10140E04643}" type="slidenum">
              <a:rPr lang="en-US" smtClean="0"/>
              <a:pPr/>
              <a:t>7</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457199"/>
            <a:ext cx="7843837" cy="1012782"/>
          </a:xfrm>
        </p:spPr>
        <p:txBody>
          <a:bodyPr/>
          <a:lstStyle/>
          <a:p>
            <a:pPr algn="ctr"/>
            <a:r>
              <a:rPr lang="en-IN" dirty="0"/>
              <a:t>Objectives</a:t>
            </a:r>
            <a:endParaRPr lang="en-US" dirty="0"/>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1652283"/>
            <a:ext cx="8760542" cy="3721817"/>
          </a:xfrm>
        </p:spPr>
        <p:txBody>
          <a:bodyPr>
            <a:normAutofit/>
          </a:bodyPr>
          <a:lstStyle/>
          <a:p>
            <a:pPr marL="457200" indent="-457200">
              <a:buFont typeface="+mj-lt"/>
              <a:buAutoNum type="arabicPeriod"/>
            </a:pPr>
            <a:r>
              <a:rPr lang="en-IN" dirty="0"/>
              <a:t>To analyse crime data using clustering techniques.</a:t>
            </a:r>
          </a:p>
          <a:p>
            <a:pPr marL="457200" indent="-457200">
              <a:buFont typeface="+mj-lt"/>
              <a:buAutoNum type="arabicPeriod"/>
            </a:pPr>
            <a:endParaRPr lang="en-IN" dirty="0"/>
          </a:p>
          <a:p>
            <a:pPr marL="457200" indent="-457200">
              <a:buFont typeface="+mj-lt"/>
              <a:buAutoNum type="arabicPeriod"/>
            </a:pPr>
            <a:r>
              <a:rPr lang="en-IN" dirty="0"/>
              <a:t>To identify crime hotspots based on location.</a:t>
            </a:r>
          </a:p>
          <a:p>
            <a:pPr marL="457200" indent="-457200">
              <a:buFont typeface="+mj-lt"/>
              <a:buAutoNum type="arabicPeriod"/>
            </a:pPr>
            <a:endParaRPr lang="en-IN" dirty="0"/>
          </a:p>
          <a:p>
            <a:pPr marL="457200" indent="-457200">
              <a:buFont typeface="+mj-lt"/>
              <a:buAutoNum type="arabicPeriod"/>
            </a:pPr>
            <a:r>
              <a:rPr lang="en-IN" dirty="0"/>
              <a:t>To discover hidden crime patterns without labelled data.</a:t>
            </a:r>
          </a:p>
          <a:p>
            <a:pPr marL="457200" indent="-457200">
              <a:buFont typeface="+mj-lt"/>
              <a:buAutoNum type="arabicPeriod"/>
            </a:pPr>
            <a:endParaRPr lang="en-IN" dirty="0"/>
          </a:p>
          <a:p>
            <a:pPr marL="457200" indent="-457200">
              <a:buFont typeface="+mj-lt"/>
              <a:buAutoNum type="arabicPeriod"/>
            </a:pPr>
            <a:r>
              <a:rPr lang="en-IN" dirty="0"/>
              <a:t>To visualize crime clusters for better interpretation.</a:t>
            </a:r>
          </a:p>
          <a:p>
            <a:pPr marL="457200" indent="-457200">
              <a:buFont typeface="+mj-lt"/>
              <a:buAutoNum type="arabicPeriod"/>
            </a:pPr>
            <a:endParaRPr lang="en-IN" dirty="0"/>
          </a:p>
          <a:p>
            <a:pPr marL="457200" indent="-457200">
              <a:buFont typeface="+mj-lt"/>
              <a:buAutoNum type="arabicPeriod"/>
            </a:pPr>
            <a:r>
              <a:rPr lang="en-IN" dirty="0"/>
              <a:t>To support data‑driven crime prevention strategies.</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1166069" y="352461"/>
            <a:ext cx="9272405" cy="999746"/>
          </a:xfrm>
        </p:spPr>
        <p:txBody>
          <a:bodyPr/>
          <a:lstStyle/>
          <a:p>
            <a:pPr algn="ctr"/>
            <a:r>
              <a:rPr lang="en-IN" dirty="0"/>
              <a:t>    Basic Methodology</a:t>
            </a:r>
            <a:endParaRPr lang="en-US" dirty="0"/>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p:txBody>
          <a:bodyPr/>
          <a:lstStyle/>
          <a:p>
            <a:fld id="{48F63A3B-78C7-47BE-AE5E-E10140E04643}" type="slidenum">
              <a:rPr lang="en-US" smtClean="0"/>
              <a:pPr/>
              <a:t>9</a:t>
            </a:fld>
            <a:endParaRPr lang="en-US" dirty="0"/>
          </a:p>
        </p:txBody>
      </p:sp>
      <p:sp>
        <p:nvSpPr>
          <p:cNvPr id="5" name="TextBox 4">
            <a:extLst>
              <a:ext uri="{FF2B5EF4-FFF2-40B4-BE49-F238E27FC236}">
                <a16:creationId xmlns:a16="http://schemas.microsoft.com/office/drawing/2014/main" id="{EBE49DFA-B05D-12F4-ADF3-E1FF5B77047F}"/>
              </a:ext>
            </a:extLst>
          </p:cNvPr>
          <p:cNvSpPr txBox="1"/>
          <p:nvPr/>
        </p:nvSpPr>
        <p:spPr>
          <a:xfrm>
            <a:off x="1166069" y="1652631"/>
            <a:ext cx="3959604" cy="3139321"/>
          </a:xfrm>
          <a:prstGeom prst="rect">
            <a:avLst/>
          </a:prstGeom>
          <a:noFill/>
        </p:spPr>
        <p:txBody>
          <a:bodyPr wrap="square" rtlCol="0">
            <a:spAutoFit/>
          </a:bodyPr>
          <a:lstStyle/>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Crime data collection</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Data preprocessing and cleaning</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Feature selection (location and time)</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Clustering using K‑Means and DBSCAN</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Visualization of crime hotspots</a:t>
            </a:r>
          </a:p>
          <a:p>
            <a:pPr marL="342900" indent="-342900" algn="just">
              <a:buFont typeface="+mj-lt"/>
              <a:buAutoNum type="arabicPeriod"/>
            </a:pPr>
            <a:r>
              <a:rPr lang="en-US" sz="2000" dirty="0">
                <a:latin typeface="Times New Roman" panose="02020603050405020304" pitchFamily="18" charset="0"/>
                <a:cs typeface="Times New Roman" panose="02020603050405020304" pitchFamily="18" charset="0"/>
              </a:rPr>
              <a:t>Pattern analysis and interpretation</a:t>
            </a:r>
          </a:p>
          <a:p>
            <a:endParaRPr lang="en-IN" dirty="0"/>
          </a:p>
        </p:txBody>
      </p:sp>
      <p:pic>
        <p:nvPicPr>
          <p:cNvPr id="7" name="Picture 6">
            <a:extLst>
              <a:ext uri="{FF2B5EF4-FFF2-40B4-BE49-F238E27FC236}">
                <a16:creationId xmlns:a16="http://schemas.microsoft.com/office/drawing/2014/main" id="{724D4C96-3392-BBAF-8819-6F83AD22FCCC}"/>
              </a:ext>
            </a:extLst>
          </p:cNvPr>
          <p:cNvPicPr>
            <a:picLocks noChangeAspect="1"/>
          </p:cNvPicPr>
          <p:nvPr/>
        </p:nvPicPr>
        <p:blipFill>
          <a:blip r:embed="rId3"/>
          <a:stretch>
            <a:fillRect/>
          </a:stretch>
        </p:blipFill>
        <p:spPr>
          <a:xfrm>
            <a:off x="7076875" y="1352206"/>
            <a:ext cx="3501642" cy="5266707"/>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24980216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147279" y="457199"/>
            <a:ext cx="6784972" cy="1202854"/>
          </a:xfrm>
        </p:spPr>
        <p:txBody>
          <a:bodyPr/>
          <a:lstStyle/>
          <a:p>
            <a:pPr algn="ctr"/>
            <a:r>
              <a:rPr lang="en-IN" dirty="0"/>
              <a:t>Software Requirements</a:t>
            </a:r>
            <a:endParaRPr lang="en-US" dirty="0"/>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86757"/>
          </a:xfrm>
        </p:spPr>
        <p:txBody>
          <a:bodyPr/>
          <a:lstStyle/>
          <a:p>
            <a:fld id="{48F63A3B-78C7-47BE-AE5E-E10140E04643}" type="slidenum">
              <a:rPr lang="en-US" smtClean="0"/>
              <a:pPr/>
              <a:t>10</a:t>
            </a:fld>
            <a:endParaRPr lang="en-US" dirty="0"/>
          </a:p>
        </p:txBody>
      </p:sp>
      <p:graphicFrame>
        <p:nvGraphicFramePr>
          <p:cNvPr id="6" name="Table 5">
            <a:extLst>
              <a:ext uri="{FF2B5EF4-FFF2-40B4-BE49-F238E27FC236}">
                <a16:creationId xmlns:a16="http://schemas.microsoft.com/office/drawing/2014/main" id="{0C9EF4ED-7705-633C-13AF-4351516E0CD0}"/>
              </a:ext>
            </a:extLst>
          </p:cNvPr>
          <p:cNvGraphicFramePr>
            <a:graphicFrameLocks noGrp="1"/>
          </p:cNvGraphicFramePr>
          <p:nvPr>
            <p:extLst>
              <p:ext uri="{D42A27DB-BD31-4B8C-83A1-F6EECF244321}">
                <p14:modId xmlns:p14="http://schemas.microsoft.com/office/powerpoint/2010/main" val="2136218354"/>
              </p:ext>
            </p:extLst>
          </p:nvPr>
        </p:nvGraphicFramePr>
        <p:xfrm>
          <a:off x="3785299" y="2395910"/>
          <a:ext cx="8128000" cy="2260600"/>
        </p:xfrm>
        <a:graphic>
          <a:graphicData uri="http://schemas.openxmlformats.org/drawingml/2006/table">
            <a:tbl>
              <a:tblPr firstRow="1" bandRow="1">
                <a:tableStyleId>{3B4B98B0-60AC-42C2-AFA5-B58CD77FA1E5}</a:tableStyleId>
              </a:tblPr>
              <a:tblGrid>
                <a:gridCol w="4064000">
                  <a:extLst>
                    <a:ext uri="{9D8B030D-6E8A-4147-A177-3AD203B41FA5}">
                      <a16:colId xmlns:a16="http://schemas.microsoft.com/office/drawing/2014/main" val="1815528286"/>
                    </a:ext>
                  </a:extLst>
                </a:gridCol>
                <a:gridCol w="4064000">
                  <a:extLst>
                    <a:ext uri="{9D8B030D-6E8A-4147-A177-3AD203B41FA5}">
                      <a16:colId xmlns:a16="http://schemas.microsoft.com/office/drawing/2014/main" val="178720744"/>
                    </a:ext>
                  </a:extLst>
                </a:gridCol>
              </a:tblGrid>
              <a:tr h="370840">
                <a:tc>
                  <a:txBody>
                    <a:bodyPr/>
                    <a:lstStyle/>
                    <a:p>
                      <a:pPr algn="l" fontAlgn="b">
                        <a:lnSpc>
                          <a:spcPts val="1200"/>
                        </a:lnSpc>
                        <a:buNone/>
                      </a:pPr>
                      <a:r>
                        <a:rPr lang="en-IN" b="1" dirty="0">
                          <a:solidFill>
                            <a:srgbClr val="0D0D0D"/>
                          </a:solidFill>
                          <a:effectLst/>
                          <a:latin typeface="Times New Roman" panose="02020603050405020304" pitchFamily="18" charset="0"/>
                          <a:cs typeface="Times New Roman" panose="02020603050405020304" pitchFamily="18" charset="0"/>
                        </a:rPr>
                        <a:t>Component</a:t>
                      </a:r>
                    </a:p>
                  </a:txBody>
                  <a:tcPr marR="18288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
                        <a:lnSpc>
                          <a:spcPts val="1200"/>
                        </a:lnSpc>
                        <a:buNone/>
                      </a:pPr>
                      <a:r>
                        <a:rPr lang="en-IN" b="1">
                          <a:solidFill>
                            <a:srgbClr val="0D0D0D"/>
                          </a:solidFill>
                          <a:effectLst/>
                          <a:latin typeface="Times New Roman" panose="02020603050405020304" pitchFamily="18" charset="0"/>
                          <a:cs typeface="Times New Roman" panose="02020603050405020304" pitchFamily="18" charset="0"/>
                        </a:rPr>
                        <a:t>Requirement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2579607486"/>
                  </a:ext>
                </a:extLst>
              </a:tr>
              <a:tr h="370840">
                <a:tc>
                  <a:txBody>
                    <a:bodyPr/>
                    <a:lstStyle/>
                    <a:p>
                      <a:pPr algn="l" fontAlgn="base">
                        <a:buNone/>
                      </a:pPr>
                      <a:r>
                        <a:rPr lang="en-IN" dirty="0">
                          <a:effectLst/>
                          <a:latin typeface="Times New Roman" panose="02020603050405020304" pitchFamily="18" charset="0"/>
                          <a:cs typeface="Times New Roman" panose="02020603050405020304" pitchFamily="18" charset="0"/>
                        </a:rPr>
                        <a:t>Operating System</a:t>
                      </a:r>
                    </a:p>
                  </a:txBody>
                  <a:tcPr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a:effectLst/>
                          <a:latin typeface="Times New Roman" panose="02020603050405020304" pitchFamily="18" charset="0"/>
                          <a:cs typeface="Times New Roman" panose="02020603050405020304" pitchFamily="18" charset="0"/>
                        </a:rPr>
                        <a:t>Windows / Linux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488048548"/>
                  </a:ext>
                </a:extLst>
              </a:tr>
              <a:tr h="370840">
                <a:tc>
                  <a:txBody>
                    <a:bodyPr/>
                    <a:lstStyle/>
                    <a:p>
                      <a:pPr algn="l" fontAlgn="base">
                        <a:buNone/>
                      </a:pPr>
                      <a:r>
                        <a:rPr lang="en-IN" dirty="0">
                          <a:effectLst/>
                          <a:latin typeface="Times New Roman" panose="02020603050405020304" pitchFamily="18" charset="0"/>
                          <a:cs typeface="Times New Roman" panose="02020603050405020304" pitchFamily="18" charset="0"/>
                        </a:rPr>
                        <a:t>Programming Language</a:t>
                      </a:r>
                    </a:p>
                  </a:txBody>
                  <a:tcPr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a:effectLst/>
                          <a:latin typeface="Times New Roman" panose="02020603050405020304" pitchFamily="18" charset="0"/>
                          <a:cs typeface="Times New Roman" panose="02020603050405020304" pitchFamily="18" charset="0"/>
                        </a:rPr>
                        <a:t>Python 3.x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3488505214"/>
                  </a:ext>
                </a:extLst>
              </a:tr>
              <a:tr h="370840">
                <a:tc>
                  <a:txBody>
                    <a:bodyPr/>
                    <a:lstStyle/>
                    <a:p>
                      <a:pPr algn="l" fontAlgn="base">
                        <a:buNone/>
                      </a:pPr>
                      <a:r>
                        <a:rPr lang="en-IN" dirty="0">
                          <a:effectLst/>
                          <a:latin typeface="Times New Roman" panose="02020603050405020304" pitchFamily="18" charset="0"/>
                          <a:cs typeface="Times New Roman" panose="02020603050405020304" pitchFamily="18" charset="0"/>
                        </a:rPr>
                        <a:t>Development Environment</a:t>
                      </a:r>
                    </a:p>
                  </a:txBody>
                  <a:tcPr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dirty="0">
                          <a:effectLst/>
                          <a:latin typeface="Times New Roman" panose="02020603050405020304" pitchFamily="18" charset="0"/>
                          <a:cs typeface="Times New Roman" panose="02020603050405020304" pitchFamily="18" charset="0"/>
                        </a:rPr>
                        <a:t>Google </a:t>
                      </a:r>
                      <a:r>
                        <a:rPr lang="en-IN" dirty="0" err="1">
                          <a:effectLst/>
                          <a:latin typeface="Times New Roman" panose="02020603050405020304" pitchFamily="18" charset="0"/>
                          <a:cs typeface="Times New Roman" panose="02020603050405020304" pitchFamily="18" charset="0"/>
                        </a:rPr>
                        <a:t>Colab</a:t>
                      </a:r>
                      <a:r>
                        <a:rPr lang="en-IN" dirty="0">
                          <a:effectLst/>
                          <a:latin typeface="Times New Roman" panose="02020603050405020304" pitchFamily="18" charset="0"/>
                          <a:cs typeface="Times New Roman" panose="02020603050405020304" pitchFamily="18" charset="0"/>
                        </a:rPr>
                        <a:t> / VS Code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1981305346"/>
                  </a:ext>
                </a:extLst>
              </a:tr>
              <a:tr h="370840">
                <a:tc>
                  <a:txBody>
                    <a:bodyPr/>
                    <a:lstStyle/>
                    <a:p>
                      <a:pPr algn="l" fontAlgn="base">
                        <a:buNone/>
                      </a:pPr>
                      <a:r>
                        <a:rPr lang="en-IN" dirty="0">
                          <a:effectLst/>
                          <a:latin typeface="Times New Roman" panose="02020603050405020304" pitchFamily="18" charset="0"/>
                          <a:cs typeface="Times New Roman" panose="02020603050405020304" pitchFamily="18" charset="0"/>
                        </a:rPr>
                        <a:t>Libraries</a:t>
                      </a:r>
                    </a:p>
                  </a:txBody>
                  <a:tcPr marR="182880" marB="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dirty="0">
                          <a:effectLst/>
                          <a:latin typeface="Times New Roman" panose="02020603050405020304" pitchFamily="18" charset="0"/>
                          <a:cs typeface="Times New Roman" panose="02020603050405020304" pitchFamily="18" charset="0"/>
                        </a:rPr>
                        <a:t>Pandas, NumPy, Scikit‑learn, Matplotlib, Seaborn</a:t>
                      </a:r>
                    </a:p>
                  </a:txBody>
                  <a:tcPr marB="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3381471363"/>
                  </a:ext>
                </a:extLst>
              </a:tr>
            </a:tbl>
          </a:graphicData>
        </a:graphic>
      </p:graphicFrame>
    </p:spTree>
    <p:extLst>
      <p:ext uri="{BB962C8B-B14F-4D97-AF65-F5344CB8AC3E}">
        <p14:creationId xmlns:p14="http://schemas.microsoft.com/office/powerpoint/2010/main" val="1131718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5BF1E-490F-4711-A4D3-CCD844FC21A6}"/>
              </a:ext>
            </a:extLst>
          </p:cNvPr>
          <p:cNvSpPr>
            <a:spLocks noGrp="1"/>
          </p:cNvSpPr>
          <p:nvPr>
            <p:ph type="title"/>
          </p:nvPr>
        </p:nvSpPr>
        <p:spPr>
          <a:xfrm>
            <a:off x="4135284" y="720074"/>
            <a:ext cx="6303191" cy="1066494"/>
          </a:xfrm>
        </p:spPr>
        <p:txBody>
          <a:bodyPr/>
          <a:lstStyle/>
          <a:p>
            <a:pPr algn="ctr"/>
            <a:r>
              <a:rPr lang="en-IN" dirty="0"/>
              <a:t>Hardware Requirements</a:t>
            </a:r>
          </a:p>
        </p:txBody>
      </p:sp>
      <p:sp>
        <p:nvSpPr>
          <p:cNvPr id="3" name="Slide Number Placeholder 2">
            <a:extLst>
              <a:ext uri="{FF2B5EF4-FFF2-40B4-BE49-F238E27FC236}">
                <a16:creationId xmlns:a16="http://schemas.microsoft.com/office/drawing/2014/main" id="{ED714B39-58FF-34E5-293E-93B423F4F0A4}"/>
              </a:ext>
            </a:extLst>
          </p:cNvPr>
          <p:cNvSpPr>
            <a:spLocks noGrp="1"/>
          </p:cNvSpPr>
          <p:nvPr>
            <p:ph type="sldNum" sz="quarter" idx="10"/>
          </p:nvPr>
        </p:nvSpPr>
        <p:spPr/>
        <p:txBody>
          <a:bodyPr/>
          <a:lstStyle/>
          <a:p>
            <a:fld id="{48F63A3B-78C7-47BE-AE5E-E10140E04643}" type="slidenum">
              <a:rPr lang="en-US" smtClean="0"/>
              <a:pPr/>
              <a:t>11</a:t>
            </a:fld>
            <a:endParaRPr lang="en-US" dirty="0"/>
          </a:p>
        </p:txBody>
      </p:sp>
      <p:graphicFrame>
        <p:nvGraphicFramePr>
          <p:cNvPr id="4" name="Table 3">
            <a:extLst>
              <a:ext uri="{FF2B5EF4-FFF2-40B4-BE49-F238E27FC236}">
                <a16:creationId xmlns:a16="http://schemas.microsoft.com/office/drawing/2014/main" id="{789D79C1-4761-F4AE-FA81-3D8E4DA691AA}"/>
              </a:ext>
            </a:extLst>
          </p:cNvPr>
          <p:cNvGraphicFramePr>
            <a:graphicFrameLocks noGrp="1"/>
          </p:cNvGraphicFramePr>
          <p:nvPr>
            <p:extLst>
              <p:ext uri="{D42A27DB-BD31-4B8C-83A1-F6EECF244321}">
                <p14:modId xmlns:p14="http://schemas.microsoft.com/office/powerpoint/2010/main" val="3781794358"/>
              </p:ext>
            </p:extLst>
          </p:nvPr>
        </p:nvGraphicFramePr>
        <p:xfrm>
          <a:off x="3791824" y="2395910"/>
          <a:ext cx="8121475" cy="1986280"/>
        </p:xfrm>
        <a:graphic>
          <a:graphicData uri="http://schemas.openxmlformats.org/drawingml/2006/table">
            <a:tbl>
              <a:tblPr firstRow="1" bandRow="1">
                <a:tableStyleId>{3B4B98B0-60AC-42C2-AFA5-B58CD77FA1E5}</a:tableStyleId>
              </a:tblPr>
              <a:tblGrid>
                <a:gridCol w="4057475">
                  <a:extLst>
                    <a:ext uri="{9D8B030D-6E8A-4147-A177-3AD203B41FA5}">
                      <a16:colId xmlns:a16="http://schemas.microsoft.com/office/drawing/2014/main" val="1815528286"/>
                    </a:ext>
                  </a:extLst>
                </a:gridCol>
                <a:gridCol w="4064000">
                  <a:extLst>
                    <a:ext uri="{9D8B030D-6E8A-4147-A177-3AD203B41FA5}">
                      <a16:colId xmlns:a16="http://schemas.microsoft.com/office/drawing/2014/main" val="178720744"/>
                    </a:ext>
                  </a:extLst>
                </a:gridCol>
              </a:tblGrid>
              <a:tr h="370840">
                <a:tc>
                  <a:txBody>
                    <a:bodyPr/>
                    <a:lstStyle/>
                    <a:p>
                      <a:pPr algn="l" fontAlgn="b">
                        <a:lnSpc>
                          <a:spcPts val="1200"/>
                        </a:lnSpc>
                        <a:buNone/>
                      </a:pPr>
                      <a:r>
                        <a:rPr lang="en-IN" b="1" dirty="0">
                          <a:solidFill>
                            <a:srgbClr val="0D0D0D"/>
                          </a:solidFill>
                          <a:effectLst/>
                        </a:rPr>
                        <a:t>Component</a:t>
                      </a:r>
                    </a:p>
                  </a:txBody>
                  <a:tcPr marR="18288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
                        <a:lnSpc>
                          <a:spcPts val="1200"/>
                        </a:lnSpc>
                        <a:buNone/>
                      </a:pPr>
                      <a:r>
                        <a:rPr lang="en-IN" b="1">
                          <a:solidFill>
                            <a:srgbClr val="0D0D0D"/>
                          </a:solidFill>
                          <a:effectLst/>
                        </a:rPr>
                        <a:t>Requirement</a:t>
                      </a:r>
                    </a:p>
                  </a:txBody>
                  <a:tcPr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2579607486"/>
                  </a:ext>
                </a:extLst>
              </a:tr>
              <a:tr h="370840">
                <a:tc>
                  <a:txBody>
                    <a:bodyPr/>
                    <a:lstStyle/>
                    <a:p>
                      <a:pPr algn="l" fontAlgn="base">
                        <a:buNone/>
                      </a:pPr>
                      <a:r>
                        <a:rPr lang="en-IN">
                          <a:effectLst/>
                        </a:rPr>
                        <a:t>Processor</a:t>
                      </a:r>
                    </a:p>
                  </a:txBody>
                  <a:tcPr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a:effectLst/>
                        </a:rPr>
                        <a:t>Intel i5 or equivalent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488048548"/>
                  </a:ext>
                </a:extLst>
              </a:tr>
              <a:tr h="370840">
                <a:tc>
                  <a:txBody>
                    <a:bodyPr/>
                    <a:lstStyle/>
                    <a:p>
                      <a:pPr algn="l" fontAlgn="base">
                        <a:buNone/>
                      </a:pPr>
                      <a:r>
                        <a:rPr lang="en-IN">
                          <a:effectLst/>
                        </a:rPr>
                        <a:t>RAM</a:t>
                      </a:r>
                    </a:p>
                  </a:txBody>
                  <a:tcPr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a:effectLst/>
                        </a:rPr>
                        <a:t>Minimum 8 GB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3488505214"/>
                  </a:ext>
                </a:extLst>
              </a:tr>
              <a:tr h="370840">
                <a:tc>
                  <a:txBody>
                    <a:bodyPr/>
                    <a:lstStyle/>
                    <a:p>
                      <a:pPr algn="l" fontAlgn="base">
                        <a:buNone/>
                      </a:pPr>
                      <a:r>
                        <a:rPr lang="en-IN">
                          <a:effectLst/>
                        </a:rPr>
                        <a:t>Storage</a:t>
                      </a:r>
                    </a:p>
                  </a:txBody>
                  <a:tcPr marR="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a:effectLst/>
                        </a:rPr>
                        <a:t>10–20 GB free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1981305346"/>
                  </a:ext>
                </a:extLst>
              </a:tr>
              <a:tr h="370840">
                <a:tc>
                  <a:txBody>
                    <a:bodyPr/>
                    <a:lstStyle/>
                    <a:p>
                      <a:pPr algn="l" fontAlgn="base">
                        <a:buNone/>
                      </a:pPr>
                      <a:r>
                        <a:rPr lang="en-IN">
                          <a:effectLst/>
                        </a:rPr>
                        <a:t>Internet</a:t>
                      </a:r>
                    </a:p>
                  </a:txBody>
                  <a:tcPr marR="182880" marB="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tc>
                  <a:txBody>
                    <a:bodyPr/>
                    <a:lstStyle/>
                    <a:p>
                      <a:pPr algn="l" fontAlgn="base">
                        <a:buNone/>
                      </a:pPr>
                      <a:r>
                        <a:rPr lang="en-IN" dirty="0">
                          <a:effectLst/>
                        </a:rPr>
                        <a:t>Required for dataset access</a:t>
                      </a:r>
                    </a:p>
                  </a:txBody>
                  <a:tcPr marB="18288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EFEF"/>
                    </a:solidFill>
                  </a:tcPr>
                </a:tc>
                <a:extLst>
                  <a:ext uri="{0D108BD9-81ED-4DB2-BD59-A6C34878D82A}">
                    <a16:rowId xmlns:a16="http://schemas.microsoft.com/office/drawing/2014/main" val="3381471363"/>
                  </a:ext>
                </a:extLst>
              </a:tr>
            </a:tbl>
          </a:graphicData>
        </a:graphic>
      </p:graphicFrame>
    </p:spTree>
    <p:extLst>
      <p:ext uri="{BB962C8B-B14F-4D97-AF65-F5344CB8AC3E}">
        <p14:creationId xmlns:p14="http://schemas.microsoft.com/office/powerpoint/2010/main" val="16343595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25866"/>
            <a:ext cx="9879437" cy="980844"/>
          </a:xfrm>
        </p:spPr>
        <p:txBody>
          <a:bodyPr/>
          <a:lstStyle/>
          <a:p>
            <a:pPr algn="ctr"/>
            <a:r>
              <a:rPr lang="en-US" dirty="0"/>
              <a:t>GANTT CHART</a:t>
            </a:r>
          </a:p>
        </p:txBody>
      </p:sp>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p:txBody>
          <a:bodyPr/>
          <a:lstStyle/>
          <a:p>
            <a:fld id="{48F63A3B-78C7-47BE-AE5E-E10140E04643}" type="slidenum">
              <a:rPr lang="en-US" smtClean="0"/>
              <a:pPr/>
              <a:t>12</a:t>
            </a:fld>
            <a:endParaRPr lang="en-US" dirty="0"/>
          </a:p>
        </p:txBody>
      </p:sp>
      <p:pic>
        <p:nvPicPr>
          <p:cNvPr id="11" name="Picture 10">
            <a:extLst>
              <a:ext uri="{FF2B5EF4-FFF2-40B4-BE49-F238E27FC236}">
                <a16:creationId xmlns:a16="http://schemas.microsoft.com/office/drawing/2014/main" id="{1111343A-D39C-0DE7-4F16-AC27EE621A5B}"/>
              </a:ext>
            </a:extLst>
          </p:cNvPr>
          <p:cNvPicPr>
            <a:picLocks noChangeAspect="1"/>
          </p:cNvPicPr>
          <p:nvPr/>
        </p:nvPicPr>
        <p:blipFill>
          <a:blip r:embed="rId3"/>
          <a:stretch>
            <a:fillRect/>
          </a:stretch>
        </p:blipFill>
        <p:spPr>
          <a:xfrm>
            <a:off x="2257732" y="2012541"/>
            <a:ext cx="8305800" cy="3619500"/>
          </a:xfrm>
          <a:prstGeom prst="rect">
            <a:avLst/>
          </a:prstGeom>
          <a:ln w="2286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39699961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A324-0737-F0DA-1F7D-10CBE06D7C3F}"/>
              </a:ext>
            </a:extLst>
          </p:cNvPr>
          <p:cNvSpPr>
            <a:spLocks noGrp="1"/>
          </p:cNvSpPr>
          <p:nvPr>
            <p:ph type="title"/>
          </p:nvPr>
        </p:nvSpPr>
        <p:spPr/>
        <p:txBody>
          <a:bodyPr/>
          <a:lstStyle/>
          <a:p>
            <a:r>
              <a:rPr lang="en-US" dirty="0"/>
              <a:t>GITHUB REPOSITORY</a:t>
            </a:r>
          </a:p>
        </p:txBody>
      </p:sp>
      <p:sp>
        <p:nvSpPr>
          <p:cNvPr id="6" name="Content Placeholder 5">
            <a:extLst>
              <a:ext uri="{FF2B5EF4-FFF2-40B4-BE49-F238E27FC236}">
                <a16:creationId xmlns:a16="http://schemas.microsoft.com/office/drawing/2014/main" id="{EB625D6C-9DD5-C104-5C12-AACF234EAB9B}"/>
              </a:ext>
            </a:extLst>
          </p:cNvPr>
          <p:cNvSpPr>
            <a:spLocks noGrp="1"/>
          </p:cNvSpPr>
          <p:nvPr>
            <p:ph sz="quarter" idx="4"/>
          </p:nvPr>
        </p:nvSpPr>
        <p:spPr>
          <a:xfrm>
            <a:off x="1081549" y="2909443"/>
            <a:ext cx="10511627" cy="3948557"/>
          </a:xfrm>
        </p:spPr>
        <p:txBody>
          <a:bodyPr>
            <a:normAutofit/>
          </a:bodyPr>
          <a:lstStyle/>
          <a:p>
            <a:pPr marL="0" indent="0" algn="ctr">
              <a:buNone/>
            </a:pPr>
            <a:r>
              <a:rPr lang="en-IN" sz="3600" dirty="0">
                <a:hlinkClick r:id="rId3" action="ppaction://hlinksldjump"/>
              </a:rPr>
              <a:t>https://github.com/221FA04108/Crime-Pattern-Analysis</a:t>
            </a:r>
            <a:endParaRPr lang="en-IN" sz="3600" dirty="0">
              <a:solidFill>
                <a:schemeClr val="tx1"/>
              </a:solidFill>
            </a:endParaRPr>
          </a:p>
        </p:txBody>
      </p:sp>
      <p:sp>
        <p:nvSpPr>
          <p:cNvPr id="3" name="Slide Number Placeholder 2">
            <a:extLst>
              <a:ext uri="{FF2B5EF4-FFF2-40B4-BE49-F238E27FC236}">
                <a16:creationId xmlns:a16="http://schemas.microsoft.com/office/drawing/2014/main" id="{AC21286A-7B29-3B58-1636-0F45723890AB}"/>
              </a:ext>
            </a:extLst>
          </p:cNvPr>
          <p:cNvSpPr>
            <a:spLocks noGrp="1"/>
          </p:cNvSpPr>
          <p:nvPr>
            <p:ph type="sldNum" sz="quarter" idx="10"/>
          </p:nvPr>
        </p:nvSpPr>
        <p:spPr/>
        <p:txBody>
          <a:bodyPr/>
          <a:lstStyle/>
          <a:p>
            <a:fld id="{48F63A3B-78C7-47BE-AE5E-E10140E04643}" type="slidenum">
              <a:rPr lang="en-US" smtClean="0"/>
              <a:pPr/>
              <a:t>13</a:t>
            </a:fld>
            <a:endParaRPr lang="en-US" dirty="0"/>
          </a:p>
        </p:txBody>
      </p:sp>
    </p:spTree>
    <p:extLst>
      <p:ext uri="{BB962C8B-B14F-4D97-AF65-F5344CB8AC3E}">
        <p14:creationId xmlns:p14="http://schemas.microsoft.com/office/powerpoint/2010/main" val="16862132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121323" y="1273030"/>
            <a:ext cx="7511844" cy="2291924"/>
          </a:xfrm>
        </p:spPr>
        <p:txBody>
          <a:bodyPr/>
          <a:lstStyle/>
          <a:p>
            <a:pPr algn="ctr"/>
            <a:r>
              <a:rPr lang="en-US" sz="7200" dirty="0"/>
              <a:t>Thank You</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1688</TotalTime>
  <Words>742</Words>
  <Application>Microsoft Office PowerPoint</Application>
  <PresentationFormat>Widescreen</PresentationFormat>
  <Paragraphs>100</Paragraphs>
  <Slides>14</Slides>
  <Notes>11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Aptos Display</vt:lpstr>
      <vt:lpstr>Arial</vt:lpstr>
      <vt:lpstr>Calibri</vt:lpstr>
      <vt:lpstr>Times New Roman</vt:lpstr>
      <vt:lpstr>Wingdings</vt:lpstr>
      <vt:lpstr>Office Theme</vt:lpstr>
      <vt:lpstr>BATCH:43 Project Title:  “Clustering‑Based Crime Pattern Analysis”   </vt:lpstr>
      <vt:lpstr>Motivation</vt:lpstr>
      <vt:lpstr>Problem Statement</vt:lpstr>
      <vt:lpstr>Introduction</vt:lpstr>
      <vt:lpstr>Literature Survey</vt:lpstr>
      <vt:lpstr>Overall Analysis and Research Gap</vt:lpstr>
      <vt:lpstr>Dataset</vt:lpstr>
      <vt:lpstr>Objectives</vt:lpstr>
      <vt:lpstr>    Basic Methodology</vt:lpstr>
      <vt:lpstr>Software Requirements</vt:lpstr>
      <vt:lpstr>Hardware Requirements</vt:lpstr>
      <vt:lpstr>GANTT CHART</vt:lpstr>
      <vt:lpstr>GITHUB REPOSITORY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BATCH:44 Project Title: "Patient-Centric Explainable AI for Early Sepsis Prediction Using ICU Time-Series Data”</dc:title>
  <dc:subject/>
  <dc:creator>Poojithanjali Kurra</dc:creator>
  <cp:lastModifiedBy>Srilatha Madira</cp:lastModifiedBy>
  <cp:revision>5</cp:revision>
  <dcterms:created xsi:type="dcterms:W3CDTF">2026-01-27T04:09:33Z</dcterms:created>
  <dcterms:modified xsi:type="dcterms:W3CDTF">2026-01-31T03:07:01Z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